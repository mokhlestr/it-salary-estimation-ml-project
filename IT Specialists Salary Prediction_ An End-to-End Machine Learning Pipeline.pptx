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baxb7cgcomuw/mnt/agents/output/it-salary-prediction/images/1_4_975_Machine_Learning_Dark_Stock.png">    </p:cNvPr>
          <p:cNvPicPr>
            <a:picLocks noChangeAspect="1"/>
          </p:cNvPicPr>
          <p:nvPr/>
        </p:nvPicPr>
        <p:blipFill>
          <a:blip r:embed="rId1"/>
          <a:srcRect l="14085" r="14085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328">
                  <a:alpha val="50000"/>
                </a:srgbClr>
              </a:gs>
              <a:gs pos="50000">
                <a:srgbClr val="1E2328">
                  <a:alpha val="80000"/>
                </a:srgbClr>
              </a:gs>
              <a:gs pos="100000">
                <a:srgbClr val="1E2328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921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Specialists Salary Prediction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6223000" y="3873500"/>
            <a:ext cx="381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4127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End-to-End Machine Learning Pipeline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318000" y="660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Mokhles Tarmiz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318000" y="70866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55000" y="86741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53200" y="88011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97000" y="4953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 &amp; Objective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6858000" cy="1524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1752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Goal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6000" y="21844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IT professional salaries using demographic and professional metrics from real-world data.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403600"/>
            <a:ext cx="6858000" cy="1905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3594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9267" y="0"/>
                </a:moveTo>
                <a:cubicBezTo>
                  <a:pt x="26577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26577" y="355600"/>
                  <a:pt x="59267" y="355600"/>
                </a:cubicBezTo>
                <a:lnTo>
                  <a:pt x="296333" y="355600"/>
                </a:lnTo>
                <a:cubicBezTo>
                  <a:pt x="329023" y="355600"/>
                  <a:pt x="355600" y="335667"/>
                  <a:pt x="355600" y="311150"/>
                </a:cubicBezTo>
                <a:lnTo>
                  <a:pt x="355600" y="44450"/>
                </a:lnTo>
                <a:cubicBezTo>
                  <a:pt x="355600" y="19933"/>
                  <a:pt x="329023" y="0"/>
                  <a:pt x="296333" y="0"/>
                </a:cubicBezTo>
                <a:lnTo>
                  <a:pt x="59267" y="0"/>
                </a:lnTo>
                <a:close/>
                <a:moveTo>
                  <a:pt x="162983" y="244475"/>
                </a:moveTo>
                <a:lnTo>
                  <a:pt x="192617" y="244475"/>
                </a:lnTo>
                <a:cubicBezTo>
                  <a:pt x="209008" y="244475"/>
                  <a:pt x="222250" y="254407"/>
                  <a:pt x="222250" y="266700"/>
                </a:cubicBezTo>
                <a:lnTo>
                  <a:pt x="222250" y="322263"/>
                </a:lnTo>
                <a:lnTo>
                  <a:pt x="133350" y="322263"/>
                </a:lnTo>
                <a:lnTo>
                  <a:pt x="133350" y="266700"/>
                </a:lnTo>
                <a:cubicBezTo>
                  <a:pt x="133350" y="254407"/>
                  <a:pt x="146592" y="244475"/>
                  <a:pt x="162983" y="244475"/>
                </a:cubicBezTo>
                <a:close/>
                <a:moveTo>
                  <a:pt x="88900" y="77788"/>
                </a:moveTo>
                <a:cubicBezTo>
                  <a:pt x="88900" y="71676"/>
                  <a:pt x="95568" y="66675"/>
                  <a:pt x="103717" y="66675"/>
                </a:cubicBezTo>
                <a:lnTo>
                  <a:pt x="133350" y="66675"/>
                </a:lnTo>
                <a:cubicBezTo>
                  <a:pt x="141499" y="66675"/>
                  <a:pt x="148167" y="71676"/>
                  <a:pt x="148167" y="77788"/>
                </a:cubicBezTo>
                <a:lnTo>
                  <a:pt x="148167" y="100013"/>
                </a:lnTo>
                <a:cubicBezTo>
                  <a:pt x="148167" y="106124"/>
                  <a:pt x="141499" y="111125"/>
                  <a:pt x="133350" y="111125"/>
                </a:cubicBezTo>
                <a:lnTo>
                  <a:pt x="103717" y="111125"/>
                </a:lnTo>
                <a:cubicBezTo>
                  <a:pt x="95568" y="111125"/>
                  <a:pt x="88900" y="106124"/>
                  <a:pt x="88900" y="100013"/>
                </a:cubicBezTo>
                <a:lnTo>
                  <a:pt x="88900" y="77788"/>
                </a:lnTo>
                <a:close/>
                <a:moveTo>
                  <a:pt x="222250" y="66675"/>
                </a:moveTo>
                <a:lnTo>
                  <a:pt x="251883" y="66675"/>
                </a:lnTo>
                <a:cubicBezTo>
                  <a:pt x="260033" y="66675"/>
                  <a:pt x="266700" y="71676"/>
                  <a:pt x="266700" y="77788"/>
                </a:cubicBezTo>
                <a:lnTo>
                  <a:pt x="266700" y="100013"/>
                </a:lnTo>
                <a:cubicBezTo>
                  <a:pt x="266700" y="106124"/>
                  <a:pt x="260033" y="111125"/>
                  <a:pt x="251883" y="111125"/>
                </a:cubicBezTo>
                <a:lnTo>
                  <a:pt x="222250" y="111125"/>
                </a:lnTo>
                <a:cubicBezTo>
                  <a:pt x="214101" y="111125"/>
                  <a:pt x="207433" y="106124"/>
                  <a:pt x="207433" y="100013"/>
                </a:cubicBezTo>
                <a:lnTo>
                  <a:pt x="207433" y="77788"/>
                </a:lnTo>
                <a:cubicBezTo>
                  <a:pt x="207433" y="71676"/>
                  <a:pt x="214101" y="66675"/>
                  <a:pt x="222250" y="66675"/>
                </a:cubicBezTo>
                <a:close/>
                <a:moveTo>
                  <a:pt x="88900" y="166688"/>
                </a:moveTo>
                <a:cubicBezTo>
                  <a:pt x="88900" y="160576"/>
                  <a:pt x="95568" y="155575"/>
                  <a:pt x="103717" y="155575"/>
                </a:cubicBezTo>
                <a:lnTo>
                  <a:pt x="133350" y="155575"/>
                </a:lnTo>
                <a:cubicBezTo>
                  <a:pt x="141499" y="155575"/>
                  <a:pt x="148167" y="160576"/>
                  <a:pt x="148167" y="166688"/>
                </a:cubicBezTo>
                <a:lnTo>
                  <a:pt x="148167" y="188913"/>
                </a:lnTo>
                <a:cubicBezTo>
                  <a:pt x="148167" y="195024"/>
                  <a:pt x="141499" y="200025"/>
                  <a:pt x="133350" y="200025"/>
                </a:cubicBezTo>
                <a:lnTo>
                  <a:pt x="103717" y="200025"/>
                </a:lnTo>
                <a:cubicBezTo>
                  <a:pt x="95568" y="200025"/>
                  <a:pt x="88900" y="195024"/>
                  <a:pt x="88900" y="188913"/>
                </a:cubicBezTo>
                <a:lnTo>
                  <a:pt x="88900" y="166688"/>
                </a:lnTo>
                <a:close/>
                <a:moveTo>
                  <a:pt x="222250" y="155575"/>
                </a:moveTo>
                <a:lnTo>
                  <a:pt x="251883" y="155575"/>
                </a:lnTo>
                <a:cubicBezTo>
                  <a:pt x="260033" y="155575"/>
                  <a:pt x="266700" y="160576"/>
                  <a:pt x="266700" y="166688"/>
                </a:cubicBezTo>
                <a:lnTo>
                  <a:pt x="266700" y="188913"/>
                </a:lnTo>
                <a:cubicBezTo>
                  <a:pt x="266700" y="195024"/>
                  <a:pt x="260033" y="200025"/>
                  <a:pt x="251883" y="200025"/>
                </a:cubicBezTo>
                <a:lnTo>
                  <a:pt x="222250" y="200025"/>
                </a:lnTo>
                <a:cubicBezTo>
                  <a:pt x="214101" y="200025"/>
                  <a:pt x="207433" y="195024"/>
                  <a:pt x="207433" y="188913"/>
                </a:cubicBezTo>
                <a:lnTo>
                  <a:pt x="207433" y="166688"/>
                </a:lnTo>
                <a:cubicBezTo>
                  <a:pt x="207433" y="160576"/>
                  <a:pt x="214101" y="155575"/>
                  <a:pt x="222250" y="155575"/>
                </a:cubicBez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" y="35687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for HR Departments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16000" y="4000500"/>
            <a:ext cx="635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salary benchmarking enables competitive compensation strategies and fair pay structures.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600700"/>
            <a:ext cx="6858000" cy="1905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5791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72244"/>
                </a:moveTo>
                <a:cubicBezTo>
                  <a:pt x="125230" y="172244"/>
                  <a:pt x="82550" y="134899"/>
                  <a:pt x="82550" y="88900"/>
                </a:cubicBezTo>
                <a:cubicBezTo>
                  <a:pt x="82550" y="42901"/>
                  <a:pt x="125230" y="5556"/>
                  <a:pt x="177800" y="5556"/>
                </a:cubicBezTo>
                <a:cubicBezTo>
                  <a:pt x="230370" y="5556"/>
                  <a:pt x="273050" y="42901"/>
                  <a:pt x="273050" y="88900"/>
                </a:cubicBezTo>
                <a:cubicBezTo>
                  <a:pt x="273050" y="134899"/>
                  <a:pt x="230370" y="172244"/>
                  <a:pt x="177800" y="172244"/>
                </a:cubicBezTo>
                <a:close/>
                <a:moveTo>
                  <a:pt x="153591" y="211138"/>
                </a:moveTo>
                <a:lnTo>
                  <a:pt x="202009" y="211138"/>
                </a:lnTo>
                <a:cubicBezTo>
                  <a:pt x="209709" y="211138"/>
                  <a:pt x="215900" y="216555"/>
                  <a:pt x="215900" y="223292"/>
                </a:cubicBezTo>
                <a:cubicBezTo>
                  <a:pt x="215900" y="226209"/>
                  <a:pt x="214709" y="228987"/>
                  <a:pt x="212566" y="231209"/>
                </a:cubicBezTo>
                <a:lnTo>
                  <a:pt x="190818" y="253434"/>
                </a:lnTo>
                <a:lnTo>
                  <a:pt x="215424" y="333375"/>
                </a:lnTo>
                <a:lnTo>
                  <a:pt x="215900" y="333375"/>
                </a:lnTo>
                <a:lnTo>
                  <a:pt x="243364" y="237182"/>
                </a:lnTo>
                <a:cubicBezTo>
                  <a:pt x="245110" y="231140"/>
                  <a:pt x="252174" y="227459"/>
                  <a:pt x="258842" y="229681"/>
                </a:cubicBezTo>
                <a:cubicBezTo>
                  <a:pt x="307975" y="246072"/>
                  <a:pt x="342900" y="287744"/>
                  <a:pt x="342900" y="336500"/>
                </a:cubicBezTo>
                <a:cubicBezTo>
                  <a:pt x="342900" y="346988"/>
                  <a:pt x="333137" y="355531"/>
                  <a:pt x="321151" y="355531"/>
                </a:cubicBezTo>
                <a:lnTo>
                  <a:pt x="34449" y="355600"/>
                </a:lnTo>
                <a:cubicBezTo>
                  <a:pt x="22463" y="355600"/>
                  <a:pt x="12700" y="347057"/>
                  <a:pt x="12700" y="336570"/>
                </a:cubicBezTo>
                <a:cubicBezTo>
                  <a:pt x="12700" y="287814"/>
                  <a:pt x="47625" y="246142"/>
                  <a:pt x="96758" y="229751"/>
                </a:cubicBezTo>
                <a:cubicBezTo>
                  <a:pt x="103426" y="227528"/>
                  <a:pt x="110490" y="231209"/>
                  <a:pt x="112236" y="237252"/>
                </a:cubicBezTo>
                <a:lnTo>
                  <a:pt x="139700" y="333444"/>
                </a:lnTo>
                <a:lnTo>
                  <a:pt x="140176" y="333444"/>
                </a:lnTo>
                <a:lnTo>
                  <a:pt x="164783" y="253504"/>
                </a:lnTo>
                <a:lnTo>
                  <a:pt x="143034" y="231279"/>
                </a:lnTo>
                <a:cubicBezTo>
                  <a:pt x="140891" y="229056"/>
                  <a:pt x="139700" y="226278"/>
                  <a:pt x="139700" y="223361"/>
                </a:cubicBezTo>
                <a:cubicBezTo>
                  <a:pt x="139700" y="216624"/>
                  <a:pt x="145891" y="211207"/>
                  <a:pt x="153591" y="211207"/>
                </a:cubicBez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600" y="57658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for IT Professionals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6000" y="6197600"/>
            <a:ext cx="635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Evidence-based career growth planning helps prioritize skill development for salary advancement.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1587500"/>
            <a:ext cx="7112000" cy="59182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23" name="Text 21"/>
          <p:cNvSpPr/>
          <p:nvPr/>
        </p:nvSpPr>
        <p:spPr>
          <a:xfrm>
            <a:off x="8763000" y="1905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ML Pipeline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763000" y="2413000"/>
            <a:ext cx="762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8763000" y="276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22515"/>
                </a:moveTo>
                <a:cubicBezTo>
                  <a:pt x="294731" y="128349"/>
                  <a:pt x="283165" y="133052"/>
                  <a:pt x="271122" y="136803"/>
                </a:cubicBezTo>
                <a:cubicBezTo>
                  <a:pt x="239146" y="146804"/>
                  <a:pt x="197168" y="152400"/>
                  <a:pt x="152400" y="152400"/>
                </a:cubicBezTo>
                <a:cubicBezTo>
                  <a:pt x="107632" y="152400"/>
                  <a:pt x="65586" y="146745"/>
                  <a:pt x="33678" y="136803"/>
                </a:cubicBezTo>
                <a:cubicBezTo>
                  <a:pt x="21703" y="133052"/>
                  <a:pt x="10069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68240" y="219075"/>
                  <a:pt x="152400" y="219075"/>
                </a:cubicBezTo>
                <a:cubicBezTo>
                  <a:pt x="236560" y="219075"/>
                  <a:pt x="304800" y="197763"/>
                  <a:pt x="304800" y="171450"/>
                </a:cubicBezTo>
                <a:lnTo>
                  <a:pt x="304800" y="122515"/>
                </a:lnTo>
                <a:close/>
                <a:moveTo>
                  <a:pt x="304800" y="76200"/>
                </a:moveTo>
                <a:lnTo>
                  <a:pt x="304800" y="47625"/>
                </a:lnTo>
                <a:cubicBezTo>
                  <a:pt x="304800" y="21312"/>
                  <a:pt x="236560" y="0"/>
                  <a:pt x="152400" y="0"/>
                </a:cubicBezTo>
                <a:cubicBezTo>
                  <a:pt x="6824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68240" y="123825"/>
                  <a:pt x="152400" y="123825"/>
                </a:cubicBezTo>
                <a:cubicBezTo>
                  <a:pt x="236560" y="123825"/>
                  <a:pt x="304800" y="102513"/>
                  <a:pt x="304800" y="76200"/>
                </a:cubicBezTo>
                <a:close/>
                <a:moveTo>
                  <a:pt x="271122" y="232053"/>
                </a:moveTo>
                <a:cubicBezTo>
                  <a:pt x="239214" y="241995"/>
                  <a:pt x="197236" y="247650"/>
                  <a:pt x="152400" y="247650"/>
                </a:cubicBezTo>
                <a:cubicBezTo>
                  <a:pt x="107564" y="247650"/>
                  <a:pt x="65586" y="241995"/>
                  <a:pt x="33678" y="232053"/>
                </a:cubicBezTo>
                <a:cubicBezTo>
                  <a:pt x="21703" y="228302"/>
                  <a:pt x="10069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68240" y="304800"/>
                  <a:pt x="152400" y="304800"/>
                </a:cubicBezTo>
                <a:cubicBezTo>
                  <a:pt x="236560" y="304800"/>
                  <a:pt x="304800" y="283488"/>
                  <a:pt x="304800" y="257175"/>
                </a:cubicBezTo>
                <a:lnTo>
                  <a:pt x="304800" y="217765"/>
                </a:lnTo>
                <a:cubicBezTo>
                  <a:pt x="294731" y="223599"/>
                  <a:pt x="283165" y="228302"/>
                  <a:pt x="271122" y="232053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6" name="Text 24"/>
          <p:cNvSpPr/>
          <p:nvPr/>
        </p:nvSpPr>
        <p:spPr>
          <a:xfrm>
            <a:off x="9194800" y="2730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Ingestion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890000" y="3124200"/>
            <a:ext cx="0" cy="279400"/>
          </a:xfrm>
          <a:prstGeom prst="straightConnector1">
            <a:avLst/>
          </a:prstGeom>
          <a:noFill/>
          <a:ln w="12700">
            <a:solidFill>
              <a:srgbClr val="FFFFFF">
                <a:alpha val="31373"/>
              </a:srgbClr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8763000" y="349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826" y="32504"/>
                </a:moveTo>
                <a:cubicBezTo>
                  <a:pt x="306440" y="25063"/>
                  <a:pt x="306440" y="12978"/>
                  <a:pt x="299826" y="5536"/>
                </a:cubicBezTo>
                <a:cubicBezTo>
                  <a:pt x="293211" y="-1905"/>
                  <a:pt x="282469" y="-1905"/>
                  <a:pt x="275855" y="5536"/>
                </a:cubicBezTo>
                <a:lnTo>
                  <a:pt x="174255" y="119836"/>
                </a:lnTo>
                <a:lnTo>
                  <a:pt x="155893" y="99179"/>
                </a:lnTo>
                <a:cubicBezTo>
                  <a:pt x="153670" y="96679"/>
                  <a:pt x="150601" y="95250"/>
                  <a:pt x="147426" y="95250"/>
                </a:cubicBezTo>
                <a:cubicBezTo>
                  <a:pt x="140811" y="95250"/>
                  <a:pt x="135467" y="101263"/>
                  <a:pt x="135467" y="108704"/>
                </a:cubicBezTo>
                <a:lnTo>
                  <a:pt x="135467" y="126028"/>
                </a:lnTo>
                <a:lnTo>
                  <a:pt x="192775" y="190500"/>
                </a:lnTo>
                <a:lnTo>
                  <a:pt x="208174" y="190500"/>
                </a:lnTo>
                <a:cubicBezTo>
                  <a:pt x="214789" y="190500"/>
                  <a:pt x="220133" y="184487"/>
                  <a:pt x="220133" y="177046"/>
                </a:cubicBezTo>
                <a:cubicBezTo>
                  <a:pt x="220133" y="173474"/>
                  <a:pt x="218863" y="170021"/>
                  <a:pt x="216641" y="167521"/>
                </a:cubicBezTo>
                <a:lnTo>
                  <a:pt x="198279" y="146864"/>
                </a:lnTo>
                <a:lnTo>
                  <a:pt x="299879" y="32564"/>
                </a:lnTo>
                <a:close/>
                <a:moveTo>
                  <a:pt x="180499" y="210383"/>
                </a:moveTo>
                <a:lnTo>
                  <a:pt x="117792" y="139839"/>
                </a:lnTo>
                <a:cubicBezTo>
                  <a:pt x="95197" y="137636"/>
                  <a:pt x="72707" y="146804"/>
                  <a:pt x="56515" y="165021"/>
                </a:cubicBezTo>
                <a:lnTo>
                  <a:pt x="52282" y="169783"/>
                </a:lnTo>
                <a:cubicBezTo>
                  <a:pt x="40481" y="183059"/>
                  <a:pt x="33867" y="201037"/>
                  <a:pt x="33867" y="219789"/>
                </a:cubicBezTo>
                <a:cubicBezTo>
                  <a:pt x="33867" y="223838"/>
                  <a:pt x="37624" y="226457"/>
                  <a:pt x="40852" y="224671"/>
                </a:cubicBezTo>
                <a:lnTo>
                  <a:pt x="67892" y="209490"/>
                </a:lnTo>
                <a:cubicBezTo>
                  <a:pt x="70538" y="208002"/>
                  <a:pt x="72919" y="211931"/>
                  <a:pt x="70750" y="214193"/>
                </a:cubicBezTo>
                <a:lnTo>
                  <a:pt x="3863" y="281821"/>
                </a:lnTo>
                <a:cubicBezTo>
                  <a:pt x="1429" y="284321"/>
                  <a:pt x="0" y="287893"/>
                  <a:pt x="0" y="291644"/>
                </a:cubicBezTo>
                <a:cubicBezTo>
                  <a:pt x="0" y="298906"/>
                  <a:pt x="5239" y="304800"/>
                  <a:pt x="11695" y="304800"/>
                </a:cubicBezTo>
                <a:lnTo>
                  <a:pt x="103399" y="304800"/>
                </a:lnTo>
                <a:cubicBezTo>
                  <a:pt x="123931" y="304800"/>
                  <a:pt x="143563" y="295632"/>
                  <a:pt x="158115" y="279321"/>
                </a:cubicBezTo>
                <a:cubicBezTo>
                  <a:pt x="174308" y="261104"/>
                  <a:pt x="182404" y="235803"/>
                  <a:pt x="180499" y="210383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9" name="Text 27"/>
          <p:cNvSpPr/>
          <p:nvPr/>
        </p:nvSpPr>
        <p:spPr>
          <a:xfrm>
            <a:off x="9194800" y="34544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Cleaning &amp; Preprocessing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890000" y="3848100"/>
            <a:ext cx="0" cy="279400"/>
          </a:xfrm>
          <a:prstGeom prst="straightConnector1">
            <a:avLst/>
          </a:prstGeom>
          <a:noFill/>
          <a:ln w="12700">
            <a:solidFill>
              <a:srgbClr val="FFFFFF">
                <a:alpha val="31373"/>
              </a:srgbClr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8763000" y="421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61912" y="128588"/>
                </a:moveTo>
                <a:lnTo>
                  <a:pt x="61912" y="166688"/>
                </a:lnTo>
                <a:cubicBezTo>
                  <a:pt x="61912" y="174605"/>
                  <a:pt x="68282" y="180975"/>
                  <a:pt x="76200" y="180975"/>
                </a:cubicBezTo>
                <a:cubicBezTo>
                  <a:pt x="84118" y="180975"/>
                  <a:pt x="90488" y="174605"/>
                  <a:pt x="90488" y="166688"/>
                </a:cubicBezTo>
                <a:lnTo>
                  <a:pt x="90488" y="128588"/>
                </a:lnTo>
                <a:cubicBezTo>
                  <a:pt x="90488" y="120670"/>
                  <a:pt x="84118" y="114300"/>
                  <a:pt x="76200" y="114300"/>
                </a:cubicBezTo>
                <a:cubicBezTo>
                  <a:pt x="68282" y="114300"/>
                  <a:pt x="61912" y="120670"/>
                  <a:pt x="61912" y="128588"/>
                </a:cubicBezTo>
                <a:close/>
                <a:moveTo>
                  <a:pt x="109537" y="71438"/>
                </a:moveTo>
                <a:lnTo>
                  <a:pt x="109537" y="166688"/>
                </a:lnTo>
                <a:cubicBezTo>
                  <a:pt x="109537" y="174605"/>
                  <a:pt x="115907" y="180975"/>
                  <a:pt x="123825" y="180975"/>
                </a:cubicBezTo>
                <a:cubicBezTo>
                  <a:pt x="131743" y="180975"/>
                  <a:pt x="138113" y="174605"/>
                  <a:pt x="138113" y="166688"/>
                </a:cubicBezTo>
                <a:lnTo>
                  <a:pt x="138113" y="71438"/>
                </a:lnTo>
                <a:cubicBezTo>
                  <a:pt x="138113" y="63520"/>
                  <a:pt x="131743" y="57150"/>
                  <a:pt x="123825" y="57150"/>
                </a:cubicBezTo>
                <a:cubicBezTo>
                  <a:pt x="115907" y="57150"/>
                  <a:pt x="109537" y="63520"/>
                  <a:pt x="109537" y="71438"/>
                </a:cubicBezTo>
                <a:close/>
                <a:moveTo>
                  <a:pt x="157163" y="109537"/>
                </a:moveTo>
                <a:lnTo>
                  <a:pt x="157163" y="166688"/>
                </a:lnTo>
                <a:cubicBezTo>
                  <a:pt x="157163" y="174605"/>
                  <a:pt x="163532" y="180975"/>
                  <a:pt x="171450" y="180975"/>
                </a:cubicBezTo>
                <a:cubicBezTo>
                  <a:pt x="179368" y="180975"/>
                  <a:pt x="185738" y="174605"/>
                  <a:pt x="185738" y="166688"/>
                </a:cubicBezTo>
                <a:lnTo>
                  <a:pt x="185738" y="109537"/>
                </a:lnTo>
                <a:cubicBezTo>
                  <a:pt x="185738" y="101620"/>
                  <a:pt x="179368" y="95250"/>
                  <a:pt x="171450" y="95250"/>
                </a:cubicBezTo>
                <a:cubicBezTo>
                  <a:pt x="163532" y="95250"/>
                  <a:pt x="157163" y="101620"/>
                  <a:pt x="157163" y="109537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2" name="Text 30"/>
          <p:cNvSpPr/>
          <p:nvPr/>
        </p:nvSpPr>
        <p:spPr>
          <a:xfrm>
            <a:off x="9194800" y="41783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890000" y="4572000"/>
            <a:ext cx="0" cy="279400"/>
          </a:xfrm>
          <a:prstGeom prst="straightConnector1">
            <a:avLst/>
          </a:prstGeom>
          <a:noFill/>
          <a:ln w="12700">
            <a:solidFill>
              <a:srgbClr val="FFFFFF">
                <a:alpha val="31373"/>
              </a:srgbClr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8763000" y="494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8072" y="125313"/>
                </a:moveTo>
                <a:cubicBezTo>
                  <a:pt x="203883" y="123349"/>
                  <a:pt x="209979" y="126802"/>
                  <a:pt x="212598" y="133529"/>
                </a:cubicBezTo>
                <a:lnTo>
                  <a:pt x="221456" y="155912"/>
                </a:lnTo>
                <a:cubicBezTo>
                  <a:pt x="226362" y="156746"/>
                  <a:pt x="231172" y="158413"/>
                  <a:pt x="235696" y="160734"/>
                </a:cubicBezTo>
                <a:lnTo>
                  <a:pt x="252365" y="146864"/>
                </a:lnTo>
                <a:cubicBezTo>
                  <a:pt x="257365" y="142696"/>
                  <a:pt x="263985" y="143530"/>
                  <a:pt x="268224" y="148828"/>
                </a:cubicBezTo>
                <a:lnTo>
                  <a:pt x="277368" y="160258"/>
                </a:lnTo>
                <a:cubicBezTo>
                  <a:pt x="281607" y="165556"/>
                  <a:pt x="282273" y="173891"/>
                  <a:pt x="278940" y="180082"/>
                </a:cubicBezTo>
                <a:lnTo>
                  <a:pt x="267843" y="200858"/>
                </a:lnTo>
                <a:cubicBezTo>
                  <a:pt x="268748" y="203656"/>
                  <a:pt x="269557" y="206573"/>
                  <a:pt x="270224" y="209610"/>
                </a:cubicBezTo>
                <a:cubicBezTo>
                  <a:pt x="270891" y="212646"/>
                  <a:pt x="271320" y="215622"/>
                  <a:pt x="271653" y="218658"/>
                </a:cubicBezTo>
                <a:lnTo>
                  <a:pt x="289608" y="229731"/>
                </a:lnTo>
                <a:cubicBezTo>
                  <a:pt x="294989" y="233065"/>
                  <a:pt x="297752" y="240685"/>
                  <a:pt x="296180" y="247888"/>
                </a:cubicBezTo>
                <a:lnTo>
                  <a:pt x="292846" y="263485"/>
                </a:lnTo>
                <a:cubicBezTo>
                  <a:pt x="291275" y="270689"/>
                  <a:pt x="285893" y="275570"/>
                  <a:pt x="279892" y="275094"/>
                </a:cubicBezTo>
                <a:lnTo>
                  <a:pt x="259890" y="273487"/>
                </a:lnTo>
                <a:cubicBezTo>
                  <a:pt x="256889" y="278309"/>
                  <a:pt x="253413" y="282773"/>
                  <a:pt x="249460" y="286583"/>
                </a:cubicBezTo>
                <a:lnTo>
                  <a:pt x="250746" y="311527"/>
                </a:lnTo>
                <a:cubicBezTo>
                  <a:pt x="251127" y="319028"/>
                  <a:pt x="247221" y="325815"/>
                  <a:pt x="241459" y="327720"/>
                </a:cubicBezTo>
                <a:lnTo>
                  <a:pt x="228981" y="331887"/>
                </a:lnTo>
                <a:cubicBezTo>
                  <a:pt x="223171" y="333851"/>
                  <a:pt x="217122" y="330398"/>
                  <a:pt x="214455" y="323671"/>
                </a:cubicBezTo>
                <a:lnTo>
                  <a:pt x="205597" y="301288"/>
                </a:lnTo>
                <a:cubicBezTo>
                  <a:pt x="200692" y="300454"/>
                  <a:pt x="195882" y="298787"/>
                  <a:pt x="191357" y="296466"/>
                </a:cubicBezTo>
                <a:lnTo>
                  <a:pt x="174689" y="310336"/>
                </a:lnTo>
                <a:cubicBezTo>
                  <a:pt x="169688" y="314504"/>
                  <a:pt x="163068" y="313670"/>
                  <a:pt x="158829" y="308372"/>
                </a:cubicBezTo>
                <a:lnTo>
                  <a:pt x="149685" y="296942"/>
                </a:lnTo>
                <a:cubicBezTo>
                  <a:pt x="145447" y="291644"/>
                  <a:pt x="144780" y="283369"/>
                  <a:pt x="148114" y="277118"/>
                </a:cubicBezTo>
                <a:lnTo>
                  <a:pt x="159210" y="256282"/>
                </a:lnTo>
                <a:cubicBezTo>
                  <a:pt x="158306" y="253484"/>
                  <a:pt x="157496" y="250567"/>
                  <a:pt x="156829" y="247531"/>
                </a:cubicBezTo>
                <a:cubicBezTo>
                  <a:pt x="156162" y="244495"/>
                  <a:pt x="155734" y="241459"/>
                  <a:pt x="155400" y="238482"/>
                </a:cubicBezTo>
                <a:lnTo>
                  <a:pt x="137446" y="227409"/>
                </a:lnTo>
                <a:cubicBezTo>
                  <a:pt x="132064" y="224076"/>
                  <a:pt x="129350" y="216456"/>
                  <a:pt x="130874" y="209252"/>
                </a:cubicBezTo>
                <a:lnTo>
                  <a:pt x="134207" y="193655"/>
                </a:lnTo>
                <a:cubicBezTo>
                  <a:pt x="135779" y="186452"/>
                  <a:pt x="141161" y="181570"/>
                  <a:pt x="147161" y="182047"/>
                </a:cubicBezTo>
                <a:lnTo>
                  <a:pt x="167116" y="183654"/>
                </a:lnTo>
                <a:cubicBezTo>
                  <a:pt x="170117" y="178832"/>
                  <a:pt x="173593" y="174367"/>
                  <a:pt x="177546" y="170557"/>
                </a:cubicBezTo>
                <a:lnTo>
                  <a:pt x="176260" y="145673"/>
                </a:lnTo>
                <a:cubicBezTo>
                  <a:pt x="175879" y="138172"/>
                  <a:pt x="179784" y="131385"/>
                  <a:pt x="185547" y="129480"/>
                </a:cubicBezTo>
                <a:lnTo>
                  <a:pt x="198025" y="125313"/>
                </a:lnTo>
                <a:close/>
                <a:moveTo>
                  <a:pt x="213550" y="202406"/>
                </a:moveTo>
                <a:cubicBezTo>
                  <a:pt x="201985" y="202423"/>
                  <a:pt x="192606" y="214173"/>
                  <a:pt x="192619" y="228630"/>
                </a:cubicBezTo>
                <a:cubicBezTo>
                  <a:pt x="192632" y="243086"/>
                  <a:pt x="202033" y="254810"/>
                  <a:pt x="213598" y="254794"/>
                </a:cubicBezTo>
                <a:cubicBezTo>
                  <a:pt x="225164" y="254777"/>
                  <a:pt x="234542" y="243027"/>
                  <a:pt x="234529" y="228570"/>
                </a:cubicBezTo>
                <a:cubicBezTo>
                  <a:pt x="234516" y="214114"/>
                  <a:pt x="225116" y="202390"/>
                  <a:pt x="213550" y="202406"/>
                </a:cubicBezTo>
                <a:close/>
                <a:moveTo>
                  <a:pt x="107109" y="-27087"/>
                </a:moveTo>
                <a:lnTo>
                  <a:pt x="119586" y="-22920"/>
                </a:lnTo>
                <a:cubicBezTo>
                  <a:pt x="125349" y="-20955"/>
                  <a:pt x="129254" y="-14168"/>
                  <a:pt x="128873" y="-6727"/>
                </a:cubicBezTo>
                <a:lnTo>
                  <a:pt x="127587" y="18157"/>
                </a:lnTo>
                <a:cubicBezTo>
                  <a:pt x="131540" y="21967"/>
                  <a:pt x="135017" y="26372"/>
                  <a:pt x="138017" y="31254"/>
                </a:cubicBezTo>
                <a:lnTo>
                  <a:pt x="158020" y="29647"/>
                </a:lnTo>
                <a:cubicBezTo>
                  <a:pt x="163973" y="29170"/>
                  <a:pt x="169402" y="34052"/>
                  <a:pt x="170974" y="41255"/>
                </a:cubicBezTo>
                <a:lnTo>
                  <a:pt x="174308" y="56852"/>
                </a:lnTo>
                <a:cubicBezTo>
                  <a:pt x="175831" y="64056"/>
                  <a:pt x="173117" y="71676"/>
                  <a:pt x="167735" y="75009"/>
                </a:cubicBezTo>
                <a:lnTo>
                  <a:pt x="149781" y="86082"/>
                </a:lnTo>
                <a:cubicBezTo>
                  <a:pt x="149447" y="89118"/>
                  <a:pt x="148971" y="92154"/>
                  <a:pt x="148352" y="95131"/>
                </a:cubicBezTo>
                <a:cubicBezTo>
                  <a:pt x="147733" y="98108"/>
                  <a:pt x="146876" y="101084"/>
                  <a:pt x="145971" y="103882"/>
                </a:cubicBezTo>
                <a:lnTo>
                  <a:pt x="157067" y="124718"/>
                </a:lnTo>
                <a:cubicBezTo>
                  <a:pt x="160401" y="130969"/>
                  <a:pt x="159734" y="139244"/>
                  <a:pt x="155496" y="144542"/>
                </a:cubicBezTo>
                <a:lnTo>
                  <a:pt x="146352" y="155972"/>
                </a:lnTo>
                <a:cubicBezTo>
                  <a:pt x="142113" y="161270"/>
                  <a:pt x="135493" y="162104"/>
                  <a:pt x="130493" y="157936"/>
                </a:cubicBezTo>
                <a:lnTo>
                  <a:pt x="113824" y="144066"/>
                </a:lnTo>
                <a:cubicBezTo>
                  <a:pt x="109299" y="146387"/>
                  <a:pt x="104489" y="148054"/>
                  <a:pt x="99584" y="148888"/>
                </a:cubicBezTo>
                <a:lnTo>
                  <a:pt x="90726" y="171271"/>
                </a:lnTo>
                <a:cubicBezTo>
                  <a:pt x="88059" y="177998"/>
                  <a:pt x="81963" y="181392"/>
                  <a:pt x="76200" y="179487"/>
                </a:cubicBezTo>
                <a:lnTo>
                  <a:pt x="63722" y="175320"/>
                </a:lnTo>
                <a:cubicBezTo>
                  <a:pt x="57912" y="173355"/>
                  <a:pt x="54054" y="166568"/>
                  <a:pt x="54435" y="159127"/>
                </a:cubicBezTo>
                <a:lnTo>
                  <a:pt x="55721" y="134183"/>
                </a:lnTo>
                <a:cubicBezTo>
                  <a:pt x="51768" y="130373"/>
                  <a:pt x="48292" y="125968"/>
                  <a:pt x="45291" y="121087"/>
                </a:cubicBezTo>
                <a:lnTo>
                  <a:pt x="25289" y="122694"/>
                </a:lnTo>
                <a:cubicBezTo>
                  <a:pt x="19336" y="123170"/>
                  <a:pt x="13907" y="118289"/>
                  <a:pt x="12335" y="111085"/>
                </a:cubicBezTo>
                <a:lnTo>
                  <a:pt x="9001" y="95488"/>
                </a:lnTo>
                <a:cubicBezTo>
                  <a:pt x="7477" y="88285"/>
                  <a:pt x="10192" y="80665"/>
                  <a:pt x="15573" y="77331"/>
                </a:cubicBezTo>
                <a:lnTo>
                  <a:pt x="33528" y="66258"/>
                </a:lnTo>
                <a:cubicBezTo>
                  <a:pt x="33861" y="63222"/>
                  <a:pt x="34338" y="60246"/>
                  <a:pt x="34957" y="57210"/>
                </a:cubicBezTo>
                <a:cubicBezTo>
                  <a:pt x="35624" y="54173"/>
                  <a:pt x="36386" y="51256"/>
                  <a:pt x="37338" y="48458"/>
                </a:cubicBezTo>
                <a:lnTo>
                  <a:pt x="26241" y="27682"/>
                </a:lnTo>
                <a:cubicBezTo>
                  <a:pt x="22908" y="21431"/>
                  <a:pt x="23574" y="13156"/>
                  <a:pt x="27813" y="7858"/>
                </a:cubicBezTo>
                <a:lnTo>
                  <a:pt x="36957" y="-3572"/>
                </a:lnTo>
                <a:cubicBezTo>
                  <a:pt x="41196" y="-8870"/>
                  <a:pt x="47815" y="-9704"/>
                  <a:pt x="52816" y="-5536"/>
                </a:cubicBezTo>
                <a:lnTo>
                  <a:pt x="69485" y="8334"/>
                </a:lnTo>
                <a:cubicBezTo>
                  <a:pt x="74009" y="6013"/>
                  <a:pt x="78819" y="4346"/>
                  <a:pt x="83725" y="3512"/>
                </a:cubicBezTo>
                <a:lnTo>
                  <a:pt x="92583" y="-18871"/>
                </a:lnTo>
                <a:cubicBezTo>
                  <a:pt x="95250" y="-25598"/>
                  <a:pt x="101298" y="-28992"/>
                  <a:pt x="107109" y="-27087"/>
                </a:cubicBezTo>
                <a:close/>
                <a:moveTo>
                  <a:pt x="91631" y="50006"/>
                </a:moveTo>
                <a:cubicBezTo>
                  <a:pt x="80065" y="50006"/>
                  <a:pt x="70676" y="61743"/>
                  <a:pt x="70676" y="76200"/>
                </a:cubicBezTo>
                <a:cubicBezTo>
                  <a:pt x="70676" y="90657"/>
                  <a:pt x="80065" y="102394"/>
                  <a:pt x="91631" y="102394"/>
                </a:cubicBezTo>
                <a:cubicBezTo>
                  <a:pt x="103196" y="102394"/>
                  <a:pt x="112585" y="90657"/>
                  <a:pt x="112585" y="76200"/>
                </a:cubicBezTo>
                <a:cubicBezTo>
                  <a:pt x="112585" y="61743"/>
                  <a:pt x="103196" y="50006"/>
                  <a:pt x="91631" y="50006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5" name="Text 33"/>
          <p:cNvSpPr/>
          <p:nvPr/>
        </p:nvSpPr>
        <p:spPr>
          <a:xfrm>
            <a:off x="9194800" y="49022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890000" y="5295900"/>
            <a:ext cx="0" cy="279400"/>
          </a:xfrm>
          <a:prstGeom prst="straightConnector1">
            <a:avLst/>
          </a:prstGeom>
          <a:noFill/>
          <a:ln w="12700">
            <a:solidFill>
              <a:srgbClr val="FFFFFF">
                <a:alpha val="31373"/>
              </a:srgbClr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8763000" y="566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5943" y="0"/>
                </a:moveTo>
                <a:lnTo>
                  <a:pt x="87086" y="0"/>
                </a:lnTo>
                <a:cubicBezTo>
                  <a:pt x="75043" y="0"/>
                  <a:pt x="65314" y="8513"/>
                  <a:pt x="65314" y="19050"/>
                </a:cubicBezTo>
                <a:cubicBezTo>
                  <a:pt x="65314" y="29587"/>
                  <a:pt x="75043" y="38100"/>
                  <a:pt x="87086" y="38100"/>
                </a:cubicBezTo>
                <a:lnTo>
                  <a:pt x="87086" y="128290"/>
                </a:lnTo>
                <a:lnTo>
                  <a:pt x="5103" y="253782"/>
                </a:lnTo>
                <a:cubicBezTo>
                  <a:pt x="1769" y="258961"/>
                  <a:pt x="0" y="264735"/>
                  <a:pt x="0" y="270689"/>
                </a:cubicBezTo>
                <a:cubicBezTo>
                  <a:pt x="0" y="289560"/>
                  <a:pt x="17417" y="304800"/>
                  <a:pt x="38984" y="304800"/>
                </a:cubicBezTo>
                <a:lnTo>
                  <a:pt x="265816" y="304800"/>
                </a:lnTo>
                <a:cubicBezTo>
                  <a:pt x="287315" y="304800"/>
                  <a:pt x="304800" y="289560"/>
                  <a:pt x="304800" y="270689"/>
                </a:cubicBezTo>
                <a:cubicBezTo>
                  <a:pt x="304800" y="264735"/>
                  <a:pt x="303031" y="258901"/>
                  <a:pt x="299697" y="253782"/>
                </a:cubicBezTo>
                <a:lnTo>
                  <a:pt x="217714" y="128290"/>
                </a:lnTo>
                <a:lnTo>
                  <a:pt x="217714" y="38100"/>
                </a:lnTo>
                <a:cubicBezTo>
                  <a:pt x="229757" y="38100"/>
                  <a:pt x="239486" y="29587"/>
                  <a:pt x="239486" y="19050"/>
                </a:cubicBezTo>
                <a:cubicBezTo>
                  <a:pt x="239486" y="8513"/>
                  <a:pt x="229757" y="0"/>
                  <a:pt x="217714" y="0"/>
                </a:cubicBezTo>
                <a:lnTo>
                  <a:pt x="195943" y="0"/>
                </a:lnTo>
                <a:close/>
                <a:moveTo>
                  <a:pt x="130629" y="128290"/>
                </a:moveTo>
                <a:lnTo>
                  <a:pt x="130629" y="38100"/>
                </a:lnTo>
                <a:lnTo>
                  <a:pt x="174171" y="38100"/>
                </a:lnTo>
                <a:lnTo>
                  <a:pt x="174171" y="128290"/>
                </a:lnTo>
                <a:cubicBezTo>
                  <a:pt x="174171" y="134898"/>
                  <a:pt x="176144" y="141446"/>
                  <a:pt x="179886" y="147221"/>
                </a:cubicBezTo>
                <a:lnTo>
                  <a:pt x="208189" y="190500"/>
                </a:lnTo>
                <a:lnTo>
                  <a:pt x="96611" y="190500"/>
                </a:lnTo>
                <a:lnTo>
                  <a:pt x="124914" y="147221"/>
                </a:lnTo>
                <a:cubicBezTo>
                  <a:pt x="128656" y="141446"/>
                  <a:pt x="130629" y="134957"/>
                  <a:pt x="130629" y="128290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8" name="Text 36"/>
          <p:cNvSpPr/>
          <p:nvPr/>
        </p:nvSpPr>
        <p:spPr>
          <a:xfrm>
            <a:off x="9194800" y="56261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Training &amp; Tuning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890000" y="6019800"/>
            <a:ext cx="0" cy="279400"/>
          </a:xfrm>
          <a:prstGeom prst="straightConnector1">
            <a:avLst/>
          </a:prstGeom>
          <a:noFill/>
          <a:ln w="12700">
            <a:solidFill>
              <a:srgbClr val="FFFFFF">
                <a:alpha val="31373"/>
              </a:srgbClr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8763000" y="6388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41" name="Text 39"/>
          <p:cNvSpPr/>
          <p:nvPr/>
        </p:nvSpPr>
        <p:spPr>
          <a:xfrm>
            <a:off x="9194800" y="63500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&amp; Insights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97000" y="4953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2540000" cy="406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587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504 REAL-WORLD ENTRIES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2184400"/>
            <a:ext cx="6858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Dataset: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Salaries-of-IT-specialists.csv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containing 504 real-world salary records of IT professionals.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3149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 Analyzed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2000" y="3683000"/>
            <a:ext cx="3238500" cy="76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" y="3873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09141" y="26194"/>
                </a:moveTo>
                <a:lnTo>
                  <a:pt x="170259" y="26194"/>
                </a:lnTo>
                <a:cubicBezTo>
                  <a:pt x="172660" y="26194"/>
                  <a:pt x="174625" y="28158"/>
                  <a:pt x="174625" y="30559"/>
                </a:cubicBezTo>
                <a:lnTo>
                  <a:pt x="174625" y="52388"/>
                </a:lnTo>
                <a:lnTo>
                  <a:pt x="104775" y="52388"/>
                </a:lnTo>
                <a:lnTo>
                  <a:pt x="104775" y="30559"/>
                </a:lnTo>
                <a:cubicBezTo>
                  <a:pt x="104775" y="28158"/>
                  <a:pt x="106740" y="26194"/>
                  <a:pt x="109141" y="26194"/>
                </a:cubicBezTo>
                <a:close/>
                <a:moveTo>
                  <a:pt x="78581" y="30559"/>
                </a:moveTo>
                <a:lnTo>
                  <a:pt x="78581" y="52388"/>
                </a:lnTo>
                <a:lnTo>
                  <a:pt x="34925" y="52388"/>
                </a:lnTo>
                <a:cubicBezTo>
                  <a:pt x="15662" y="52388"/>
                  <a:pt x="0" y="68049"/>
                  <a:pt x="0" y="87313"/>
                </a:cubicBezTo>
                <a:lnTo>
                  <a:pt x="0" y="139700"/>
                </a:lnTo>
                <a:lnTo>
                  <a:pt x="279400" y="139700"/>
                </a:lnTo>
                <a:lnTo>
                  <a:pt x="279400" y="87313"/>
                </a:lnTo>
                <a:cubicBezTo>
                  <a:pt x="279400" y="68049"/>
                  <a:pt x="263738" y="52388"/>
                  <a:pt x="244475" y="52388"/>
                </a:cubicBezTo>
                <a:lnTo>
                  <a:pt x="200819" y="52388"/>
                </a:lnTo>
                <a:lnTo>
                  <a:pt x="200819" y="30559"/>
                </a:lnTo>
                <a:cubicBezTo>
                  <a:pt x="200819" y="13697"/>
                  <a:pt x="187122" y="0"/>
                  <a:pt x="170259" y="0"/>
                </a:cubicBezTo>
                <a:lnTo>
                  <a:pt x="109141" y="0"/>
                </a:lnTo>
                <a:cubicBezTo>
                  <a:pt x="92278" y="0"/>
                  <a:pt x="78581" y="13697"/>
                  <a:pt x="78581" y="30559"/>
                </a:cubicBezTo>
                <a:close/>
                <a:moveTo>
                  <a:pt x="279400" y="165894"/>
                </a:moveTo>
                <a:lnTo>
                  <a:pt x="174625" y="165894"/>
                </a:lnTo>
                <a:lnTo>
                  <a:pt x="174625" y="174625"/>
                </a:lnTo>
                <a:cubicBezTo>
                  <a:pt x="174625" y="184284"/>
                  <a:pt x="166821" y="192088"/>
                  <a:pt x="157163" y="192088"/>
                </a:cubicBezTo>
                <a:lnTo>
                  <a:pt x="122238" y="192088"/>
                </a:lnTo>
                <a:cubicBezTo>
                  <a:pt x="112579" y="192088"/>
                  <a:pt x="104775" y="184284"/>
                  <a:pt x="104775" y="174625"/>
                </a:cubicBezTo>
                <a:lnTo>
                  <a:pt x="104775" y="165894"/>
                </a:lnTo>
                <a:lnTo>
                  <a:pt x="0" y="165894"/>
                </a:ln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44475" y="261938"/>
                </a:lnTo>
                <a:cubicBezTo>
                  <a:pt x="263738" y="261938"/>
                  <a:pt x="279400" y="246276"/>
                  <a:pt x="279400" y="227013"/>
                </a:cubicBezTo>
                <a:lnTo>
                  <a:pt x="279400" y="165894"/>
                </a:ln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3683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in industry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91000" y="3683000"/>
            <a:ext cx="3238500" cy="76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1500" y="3873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53884" y="-5730"/>
                </a:moveTo>
                <a:lnTo>
                  <a:pt x="38542" y="17244"/>
                </a:lnTo>
                <a:cubicBezTo>
                  <a:pt x="36172" y="20791"/>
                  <a:pt x="34925" y="24884"/>
                  <a:pt x="34925" y="29031"/>
                </a:cubicBezTo>
                <a:lnTo>
                  <a:pt x="34925" y="30559"/>
                </a:lnTo>
                <a:cubicBezTo>
                  <a:pt x="34925" y="42619"/>
                  <a:pt x="46089" y="52388"/>
                  <a:pt x="59871" y="52388"/>
                </a:cubicBezTo>
                <a:cubicBezTo>
                  <a:pt x="73654" y="52388"/>
                  <a:pt x="84818" y="42619"/>
                  <a:pt x="84818" y="30559"/>
                </a:cubicBezTo>
                <a:lnTo>
                  <a:pt x="84818" y="29031"/>
                </a:lnTo>
                <a:cubicBezTo>
                  <a:pt x="84818" y="24884"/>
                  <a:pt x="83571" y="20846"/>
                  <a:pt x="81201" y="17244"/>
                </a:cubicBezTo>
                <a:lnTo>
                  <a:pt x="65859" y="-5730"/>
                </a:lnTo>
                <a:cubicBezTo>
                  <a:pt x="64611" y="-7585"/>
                  <a:pt x="62304" y="-8731"/>
                  <a:pt x="59871" y="-8731"/>
                </a:cubicBezTo>
                <a:cubicBezTo>
                  <a:pt x="57439" y="-8731"/>
                  <a:pt x="55132" y="-7585"/>
                  <a:pt x="53884" y="-5730"/>
                </a:cubicBezTo>
                <a:close/>
                <a:moveTo>
                  <a:pt x="133713" y="-5730"/>
                </a:moveTo>
                <a:lnTo>
                  <a:pt x="118371" y="17244"/>
                </a:lnTo>
                <a:cubicBezTo>
                  <a:pt x="116001" y="20791"/>
                  <a:pt x="114754" y="24884"/>
                  <a:pt x="114754" y="29031"/>
                </a:cubicBezTo>
                <a:lnTo>
                  <a:pt x="114754" y="30559"/>
                </a:lnTo>
                <a:cubicBezTo>
                  <a:pt x="114754" y="42619"/>
                  <a:pt x="125917" y="52388"/>
                  <a:pt x="139700" y="52388"/>
                </a:cubicBezTo>
                <a:cubicBezTo>
                  <a:pt x="153483" y="52388"/>
                  <a:pt x="164646" y="42619"/>
                  <a:pt x="164646" y="30559"/>
                </a:cubicBezTo>
                <a:lnTo>
                  <a:pt x="164646" y="29031"/>
                </a:lnTo>
                <a:cubicBezTo>
                  <a:pt x="164646" y="24884"/>
                  <a:pt x="163399" y="20846"/>
                  <a:pt x="161029" y="17244"/>
                </a:cubicBezTo>
                <a:lnTo>
                  <a:pt x="145687" y="-5730"/>
                </a:lnTo>
                <a:cubicBezTo>
                  <a:pt x="144440" y="-7585"/>
                  <a:pt x="142132" y="-8731"/>
                  <a:pt x="139700" y="-8731"/>
                </a:cubicBezTo>
                <a:cubicBezTo>
                  <a:pt x="137268" y="-8731"/>
                  <a:pt x="134960" y="-7585"/>
                  <a:pt x="133713" y="-5730"/>
                </a:cubicBezTo>
                <a:close/>
                <a:moveTo>
                  <a:pt x="198199" y="17244"/>
                </a:moveTo>
                <a:cubicBezTo>
                  <a:pt x="195829" y="20791"/>
                  <a:pt x="194582" y="24884"/>
                  <a:pt x="194582" y="29031"/>
                </a:cubicBezTo>
                <a:lnTo>
                  <a:pt x="194582" y="30559"/>
                </a:lnTo>
                <a:cubicBezTo>
                  <a:pt x="194582" y="42619"/>
                  <a:pt x="205746" y="52388"/>
                  <a:pt x="219529" y="52388"/>
                </a:cubicBezTo>
                <a:cubicBezTo>
                  <a:pt x="233311" y="52388"/>
                  <a:pt x="244475" y="42619"/>
                  <a:pt x="244475" y="30559"/>
                </a:cubicBezTo>
                <a:lnTo>
                  <a:pt x="244475" y="29031"/>
                </a:lnTo>
                <a:cubicBezTo>
                  <a:pt x="244475" y="24884"/>
                  <a:pt x="243228" y="20846"/>
                  <a:pt x="240858" y="17244"/>
                </a:cubicBezTo>
                <a:lnTo>
                  <a:pt x="225516" y="-5730"/>
                </a:lnTo>
                <a:cubicBezTo>
                  <a:pt x="224268" y="-7585"/>
                  <a:pt x="221961" y="-8731"/>
                  <a:pt x="219529" y="-8731"/>
                </a:cubicBezTo>
                <a:cubicBezTo>
                  <a:pt x="217096" y="-8731"/>
                  <a:pt x="214789" y="-7585"/>
                  <a:pt x="213541" y="-5730"/>
                </a:cubicBezTo>
                <a:lnTo>
                  <a:pt x="198199" y="17244"/>
                </a:lnTo>
                <a:close/>
                <a:moveTo>
                  <a:pt x="79829" y="87313"/>
                </a:moveTo>
                <a:cubicBezTo>
                  <a:pt x="79829" y="77654"/>
                  <a:pt x="70910" y="69850"/>
                  <a:pt x="59871" y="69850"/>
                </a:cubicBezTo>
                <a:cubicBezTo>
                  <a:pt x="48833" y="69850"/>
                  <a:pt x="39914" y="77654"/>
                  <a:pt x="39914" y="87313"/>
                </a:cubicBezTo>
                <a:lnTo>
                  <a:pt x="39914" y="116508"/>
                </a:lnTo>
                <a:cubicBezTo>
                  <a:pt x="16652" y="123656"/>
                  <a:pt x="0" y="143083"/>
                  <a:pt x="0" y="165894"/>
                </a:cubicBezTo>
                <a:lnTo>
                  <a:pt x="0" y="177244"/>
                </a:lnTo>
                <a:cubicBezTo>
                  <a:pt x="13035" y="177954"/>
                  <a:pt x="25944" y="181228"/>
                  <a:pt x="37607" y="187067"/>
                </a:cubicBezTo>
                <a:lnTo>
                  <a:pt x="42035" y="189304"/>
                </a:lnTo>
                <a:cubicBezTo>
                  <a:pt x="58437" y="197490"/>
                  <a:pt x="78768" y="196617"/>
                  <a:pt x="94173" y="187012"/>
                </a:cubicBezTo>
                <a:cubicBezTo>
                  <a:pt x="121427" y="169987"/>
                  <a:pt x="157973" y="169987"/>
                  <a:pt x="185227" y="187012"/>
                </a:cubicBezTo>
                <a:cubicBezTo>
                  <a:pt x="200569" y="196617"/>
                  <a:pt x="220963" y="197545"/>
                  <a:pt x="237365" y="189304"/>
                </a:cubicBezTo>
                <a:lnTo>
                  <a:pt x="241793" y="187067"/>
                </a:lnTo>
                <a:cubicBezTo>
                  <a:pt x="253456" y="181228"/>
                  <a:pt x="266303" y="177954"/>
                  <a:pt x="279400" y="177244"/>
                </a:cubicBezTo>
                <a:lnTo>
                  <a:pt x="279400" y="165894"/>
                </a:lnTo>
                <a:cubicBezTo>
                  <a:pt x="279400" y="143083"/>
                  <a:pt x="262748" y="123656"/>
                  <a:pt x="239486" y="116508"/>
                </a:cubicBezTo>
                <a:lnTo>
                  <a:pt x="239486" y="87313"/>
                </a:lnTo>
                <a:cubicBezTo>
                  <a:pt x="239486" y="77654"/>
                  <a:pt x="230567" y="69850"/>
                  <a:pt x="219529" y="69850"/>
                </a:cubicBezTo>
                <a:cubicBezTo>
                  <a:pt x="208490" y="69850"/>
                  <a:pt x="199571" y="77654"/>
                  <a:pt x="199571" y="87313"/>
                </a:cubicBezTo>
                <a:lnTo>
                  <a:pt x="199571" y="113506"/>
                </a:lnTo>
                <a:lnTo>
                  <a:pt x="159657" y="113506"/>
                </a:lnTo>
                <a:lnTo>
                  <a:pt x="159657" y="87313"/>
                </a:lnTo>
                <a:cubicBezTo>
                  <a:pt x="159657" y="77654"/>
                  <a:pt x="150739" y="69850"/>
                  <a:pt x="139700" y="69850"/>
                </a:cubicBezTo>
                <a:cubicBezTo>
                  <a:pt x="128661" y="69850"/>
                  <a:pt x="119743" y="77654"/>
                  <a:pt x="119743" y="87313"/>
                </a:cubicBezTo>
                <a:lnTo>
                  <a:pt x="119743" y="113506"/>
                </a:lnTo>
                <a:lnTo>
                  <a:pt x="79829" y="113506"/>
                </a:lnTo>
                <a:lnTo>
                  <a:pt x="79829" y="87313"/>
                </a:lnTo>
                <a:close/>
                <a:moveTo>
                  <a:pt x="279400" y="203547"/>
                </a:moveTo>
                <a:cubicBezTo>
                  <a:pt x="271480" y="204202"/>
                  <a:pt x="263746" y="206276"/>
                  <a:pt x="256636" y="209823"/>
                </a:cubicBezTo>
                <a:lnTo>
                  <a:pt x="252208" y="212060"/>
                </a:lnTo>
                <a:cubicBezTo>
                  <a:pt x="225640" y="225321"/>
                  <a:pt x="192711" y="223902"/>
                  <a:pt x="167827" y="208349"/>
                </a:cubicBezTo>
                <a:cubicBezTo>
                  <a:pt x="150988" y="197817"/>
                  <a:pt x="128412" y="197817"/>
                  <a:pt x="111573" y="208349"/>
                </a:cubicBezTo>
                <a:cubicBezTo>
                  <a:pt x="86689" y="223902"/>
                  <a:pt x="53760" y="225375"/>
                  <a:pt x="27192" y="212060"/>
                </a:cubicBezTo>
                <a:lnTo>
                  <a:pt x="22764" y="209823"/>
                </a:lnTo>
                <a:cubicBezTo>
                  <a:pt x="15654" y="206276"/>
                  <a:pt x="7920" y="204148"/>
                  <a:pt x="0" y="203547"/>
                </a:cubicBezTo>
                <a:lnTo>
                  <a:pt x="0" y="244475"/>
                </a:lnTo>
                <a:cubicBezTo>
                  <a:pt x="0" y="263738"/>
                  <a:pt x="17899" y="279400"/>
                  <a:pt x="39914" y="279400"/>
                </a:cubicBezTo>
                <a:lnTo>
                  <a:pt x="239486" y="279400"/>
                </a:lnTo>
                <a:cubicBezTo>
                  <a:pt x="261501" y="279400"/>
                  <a:pt x="279400" y="263738"/>
                  <a:pt x="279400" y="244475"/>
                </a:cubicBezTo>
                <a:lnTo>
                  <a:pt x="279400" y="203547"/>
                </a:ln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19" name="Text 17"/>
          <p:cNvSpPr/>
          <p:nvPr/>
        </p:nvSpPr>
        <p:spPr>
          <a:xfrm>
            <a:off x="4762500" y="3683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Demographic indicator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635500"/>
            <a:ext cx="3238500" cy="76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482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73015" y="19809"/>
                </a:moveTo>
                <a:cubicBezTo>
                  <a:pt x="78963" y="23956"/>
                  <a:pt x="80382" y="32142"/>
                  <a:pt x="76235" y="38036"/>
                </a:cubicBezTo>
                <a:lnTo>
                  <a:pt x="45675" y="81692"/>
                </a:lnTo>
                <a:cubicBezTo>
                  <a:pt x="43438" y="84857"/>
                  <a:pt x="39945" y="86876"/>
                  <a:pt x="36071" y="87203"/>
                </a:cubicBezTo>
                <a:cubicBezTo>
                  <a:pt x="32196" y="87531"/>
                  <a:pt x="28377" y="86221"/>
                  <a:pt x="25648" y="83493"/>
                </a:cubicBezTo>
                <a:lnTo>
                  <a:pt x="3820" y="61664"/>
                </a:lnTo>
                <a:cubicBezTo>
                  <a:pt x="-1255" y="56535"/>
                  <a:pt x="-1255" y="48240"/>
                  <a:pt x="3820" y="43111"/>
                </a:cubicBezTo>
                <a:cubicBezTo>
                  <a:pt x="8895" y="37981"/>
                  <a:pt x="17244" y="38036"/>
                  <a:pt x="22374" y="43111"/>
                </a:cubicBezTo>
                <a:lnTo>
                  <a:pt x="33179" y="53915"/>
                </a:lnTo>
                <a:lnTo>
                  <a:pt x="54789" y="23029"/>
                </a:lnTo>
                <a:cubicBezTo>
                  <a:pt x="58936" y="17081"/>
                  <a:pt x="67121" y="15662"/>
                  <a:pt x="73015" y="19809"/>
                </a:cubicBezTo>
                <a:close/>
                <a:moveTo>
                  <a:pt x="73015" y="107122"/>
                </a:moveTo>
                <a:cubicBezTo>
                  <a:pt x="78963" y="111269"/>
                  <a:pt x="80382" y="119454"/>
                  <a:pt x="76235" y="125348"/>
                </a:cubicBezTo>
                <a:lnTo>
                  <a:pt x="45675" y="169004"/>
                </a:lnTo>
                <a:cubicBezTo>
                  <a:pt x="43438" y="172169"/>
                  <a:pt x="39945" y="174188"/>
                  <a:pt x="36071" y="174516"/>
                </a:cubicBezTo>
                <a:cubicBezTo>
                  <a:pt x="32196" y="174843"/>
                  <a:pt x="28377" y="173534"/>
                  <a:pt x="25648" y="170805"/>
                </a:cubicBezTo>
                <a:lnTo>
                  <a:pt x="3820" y="148977"/>
                </a:lnTo>
                <a:cubicBezTo>
                  <a:pt x="-1310" y="143847"/>
                  <a:pt x="-1310" y="135553"/>
                  <a:pt x="3820" y="130478"/>
                </a:cubicBezTo>
                <a:cubicBezTo>
                  <a:pt x="8950" y="125403"/>
                  <a:pt x="17244" y="125348"/>
                  <a:pt x="22319" y="130478"/>
                </a:cubicBezTo>
                <a:lnTo>
                  <a:pt x="33124" y="141283"/>
                </a:lnTo>
                <a:lnTo>
                  <a:pt x="54734" y="110396"/>
                </a:lnTo>
                <a:cubicBezTo>
                  <a:pt x="58881" y="104448"/>
                  <a:pt x="67067" y="103029"/>
                  <a:pt x="72961" y="107176"/>
                </a:cubicBezTo>
                <a:close/>
                <a:moveTo>
                  <a:pt x="122238" y="52388"/>
                </a:moveTo>
                <a:cubicBezTo>
                  <a:pt x="122238" y="42729"/>
                  <a:pt x="130041" y="34925"/>
                  <a:pt x="139700" y="34925"/>
                </a:cubicBezTo>
                <a:lnTo>
                  <a:pt x="261938" y="34925"/>
                </a:lnTo>
                <a:cubicBezTo>
                  <a:pt x="271596" y="34925"/>
                  <a:pt x="279400" y="42729"/>
                  <a:pt x="279400" y="52388"/>
                </a:cubicBezTo>
                <a:cubicBezTo>
                  <a:pt x="279400" y="62046"/>
                  <a:pt x="271596" y="69850"/>
                  <a:pt x="261938" y="69850"/>
                </a:cubicBezTo>
                <a:lnTo>
                  <a:pt x="139700" y="69850"/>
                </a:lnTo>
                <a:cubicBezTo>
                  <a:pt x="130041" y="69850"/>
                  <a:pt x="122238" y="62046"/>
                  <a:pt x="122238" y="52388"/>
                </a:cubicBezTo>
                <a:close/>
                <a:moveTo>
                  <a:pt x="122238" y="139700"/>
                </a:moveTo>
                <a:cubicBezTo>
                  <a:pt x="122238" y="130041"/>
                  <a:pt x="130041" y="122238"/>
                  <a:pt x="139700" y="122238"/>
                </a:cubicBezTo>
                <a:lnTo>
                  <a:pt x="261938" y="122238"/>
                </a:lnTo>
                <a:cubicBezTo>
                  <a:pt x="271596" y="122238"/>
                  <a:pt x="279400" y="130041"/>
                  <a:pt x="279400" y="139700"/>
                </a:cubicBezTo>
                <a:cubicBezTo>
                  <a:pt x="279400" y="149359"/>
                  <a:pt x="271596" y="157163"/>
                  <a:pt x="261938" y="157163"/>
                </a:cubicBezTo>
                <a:lnTo>
                  <a:pt x="139700" y="157163"/>
                </a:lnTo>
                <a:cubicBezTo>
                  <a:pt x="130041" y="157163"/>
                  <a:pt x="122238" y="149359"/>
                  <a:pt x="122238" y="139700"/>
                </a:cubicBezTo>
                <a:close/>
                <a:moveTo>
                  <a:pt x="87313" y="227013"/>
                </a:moveTo>
                <a:cubicBezTo>
                  <a:pt x="87313" y="217354"/>
                  <a:pt x="95116" y="209550"/>
                  <a:pt x="104775" y="209550"/>
                </a:cubicBezTo>
                <a:lnTo>
                  <a:pt x="261938" y="209550"/>
                </a:lnTo>
                <a:cubicBezTo>
                  <a:pt x="271596" y="209550"/>
                  <a:pt x="279400" y="217354"/>
                  <a:pt x="279400" y="227013"/>
                </a:cubicBezTo>
                <a:cubicBezTo>
                  <a:pt x="279400" y="236671"/>
                  <a:pt x="271596" y="244475"/>
                  <a:pt x="261938" y="244475"/>
                </a:cubicBezTo>
                <a:lnTo>
                  <a:pt x="104775" y="244475"/>
                </a:lnTo>
                <a:cubicBezTo>
                  <a:pt x="95116" y="244475"/>
                  <a:pt x="87313" y="236671"/>
                  <a:pt x="87313" y="227013"/>
                </a:cubicBezTo>
                <a:close/>
                <a:moveTo>
                  <a:pt x="34925" y="205184"/>
                </a:moveTo>
                <a:cubicBezTo>
                  <a:pt x="46972" y="205184"/>
                  <a:pt x="56753" y="214965"/>
                  <a:pt x="56753" y="227013"/>
                </a:cubicBezTo>
                <a:cubicBezTo>
                  <a:pt x="56753" y="239060"/>
                  <a:pt x="46972" y="248841"/>
                  <a:pt x="34925" y="248841"/>
                </a:cubicBezTo>
                <a:cubicBezTo>
                  <a:pt x="22878" y="248841"/>
                  <a:pt x="13097" y="239060"/>
                  <a:pt x="13097" y="227013"/>
                </a:cubicBezTo>
                <a:cubicBezTo>
                  <a:pt x="13097" y="214965"/>
                  <a:pt x="22878" y="205184"/>
                  <a:pt x="34925" y="205184"/>
                </a:cubicBez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22" name="Text 20"/>
          <p:cNvSpPr/>
          <p:nvPr/>
        </p:nvSpPr>
        <p:spPr>
          <a:xfrm>
            <a:off x="1333500" y="4635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Workload indicator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91000" y="4635500"/>
            <a:ext cx="3238500" cy="76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1500" y="482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90259" y="175662"/>
                </a:moveTo>
                <a:cubicBezTo>
                  <a:pt x="101392" y="190942"/>
                  <a:pt x="119400" y="200819"/>
                  <a:pt x="139700" y="200819"/>
                </a:cubicBezTo>
                <a:cubicBezTo>
                  <a:pt x="160000" y="200819"/>
                  <a:pt x="178008" y="190942"/>
                  <a:pt x="189141" y="175662"/>
                </a:cubicBezTo>
                <a:cubicBezTo>
                  <a:pt x="193397" y="169823"/>
                  <a:pt x="201583" y="168513"/>
                  <a:pt x="207422" y="172770"/>
                </a:cubicBezTo>
                <a:cubicBezTo>
                  <a:pt x="213261" y="177026"/>
                  <a:pt x="214570" y="185212"/>
                  <a:pt x="210314" y="191051"/>
                </a:cubicBezTo>
                <a:cubicBezTo>
                  <a:pt x="194434" y="212824"/>
                  <a:pt x="168731" y="227013"/>
                  <a:pt x="139700" y="227013"/>
                </a:cubicBezTo>
                <a:cubicBezTo>
                  <a:pt x="110669" y="227013"/>
                  <a:pt x="84966" y="212824"/>
                  <a:pt x="69086" y="191051"/>
                </a:cubicBezTo>
                <a:cubicBezTo>
                  <a:pt x="64830" y="185212"/>
                  <a:pt x="66139" y="177026"/>
                  <a:pt x="71978" y="172770"/>
                </a:cubicBezTo>
                <a:cubicBezTo>
                  <a:pt x="77817" y="168513"/>
                  <a:pt x="86003" y="169823"/>
                  <a:pt x="90259" y="175662"/>
                </a:cubicBezTo>
                <a:close/>
                <a:moveTo>
                  <a:pt x="78581" y="113506"/>
                </a:moveTo>
                <a:cubicBezTo>
                  <a:pt x="78581" y="103868"/>
                  <a:pt x="86406" y="96044"/>
                  <a:pt x="96044" y="96044"/>
                </a:cubicBezTo>
                <a:cubicBezTo>
                  <a:pt x="105682" y="96044"/>
                  <a:pt x="113506" y="103868"/>
                  <a:pt x="113506" y="113506"/>
                </a:cubicBezTo>
                <a:cubicBezTo>
                  <a:pt x="113506" y="123144"/>
                  <a:pt x="105682" y="130969"/>
                  <a:pt x="96044" y="130969"/>
                </a:cubicBezTo>
                <a:cubicBezTo>
                  <a:pt x="86406" y="130969"/>
                  <a:pt x="78581" y="123144"/>
                  <a:pt x="78581" y="113506"/>
                </a:cubicBezTo>
                <a:close/>
                <a:moveTo>
                  <a:pt x="183356" y="96044"/>
                </a:moveTo>
                <a:cubicBezTo>
                  <a:pt x="192994" y="96044"/>
                  <a:pt x="200819" y="103868"/>
                  <a:pt x="200819" y="113506"/>
                </a:cubicBezTo>
                <a:cubicBezTo>
                  <a:pt x="200819" y="123144"/>
                  <a:pt x="192994" y="130969"/>
                  <a:pt x="183356" y="130969"/>
                </a:cubicBezTo>
                <a:cubicBezTo>
                  <a:pt x="173718" y="130969"/>
                  <a:pt x="165894" y="123144"/>
                  <a:pt x="165894" y="113506"/>
                </a:cubicBezTo>
                <a:cubicBezTo>
                  <a:pt x="165894" y="103868"/>
                  <a:pt x="173718" y="96044"/>
                  <a:pt x="183356" y="96044"/>
                </a:cubicBez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25" name="Text 23"/>
          <p:cNvSpPr/>
          <p:nvPr/>
        </p:nvSpPr>
        <p:spPr>
          <a:xfrm>
            <a:off x="4762500" y="4635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Satisfaction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Self-reported score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588000"/>
            <a:ext cx="3238500" cy="76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27" name="Shape 25"/>
          <p:cNvSpPr/>
          <p:nvPr/>
        </p:nvSpPr>
        <p:spPr>
          <a:xfrm>
            <a:off x="952500" y="5778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04775" y="34925"/>
                </a:moveTo>
                <a:cubicBezTo>
                  <a:pt x="104775" y="25266"/>
                  <a:pt x="112579" y="17463"/>
                  <a:pt x="122238" y="17463"/>
                </a:cubicBezTo>
                <a:lnTo>
                  <a:pt x="157163" y="17463"/>
                </a:lnTo>
                <a:cubicBezTo>
                  <a:pt x="166821" y="17463"/>
                  <a:pt x="174625" y="25266"/>
                  <a:pt x="174625" y="34925"/>
                </a:cubicBezTo>
                <a:lnTo>
                  <a:pt x="174625" y="69850"/>
                </a:lnTo>
                <a:cubicBezTo>
                  <a:pt x="174625" y="79509"/>
                  <a:pt x="166821" y="87313"/>
                  <a:pt x="157163" y="87313"/>
                </a:cubicBezTo>
                <a:lnTo>
                  <a:pt x="152797" y="87313"/>
                </a:lnTo>
                <a:lnTo>
                  <a:pt x="152797" y="122238"/>
                </a:lnTo>
                <a:lnTo>
                  <a:pt x="218281" y="122238"/>
                </a:lnTo>
                <a:cubicBezTo>
                  <a:pt x="240000" y="122238"/>
                  <a:pt x="257572" y="139809"/>
                  <a:pt x="257572" y="161528"/>
                </a:cubicBezTo>
                <a:lnTo>
                  <a:pt x="257572" y="192088"/>
                </a:lnTo>
                <a:lnTo>
                  <a:pt x="261938" y="192088"/>
                </a:lnTo>
                <a:cubicBezTo>
                  <a:pt x="271596" y="192088"/>
                  <a:pt x="279400" y="199891"/>
                  <a:pt x="279400" y="209550"/>
                </a:cubicBezTo>
                <a:lnTo>
                  <a:pt x="279400" y="244475"/>
                </a:lnTo>
                <a:cubicBezTo>
                  <a:pt x="279400" y="254134"/>
                  <a:pt x="271596" y="261938"/>
                  <a:pt x="261938" y="261938"/>
                </a:cubicBezTo>
                <a:lnTo>
                  <a:pt x="227013" y="261938"/>
                </a:lnTo>
                <a:cubicBezTo>
                  <a:pt x="217354" y="261938"/>
                  <a:pt x="209550" y="254134"/>
                  <a:pt x="209550" y="244475"/>
                </a:cubicBezTo>
                <a:lnTo>
                  <a:pt x="209550" y="209550"/>
                </a:lnTo>
                <a:cubicBezTo>
                  <a:pt x="209550" y="199891"/>
                  <a:pt x="217354" y="192088"/>
                  <a:pt x="227013" y="192088"/>
                </a:cubicBezTo>
                <a:lnTo>
                  <a:pt x="231378" y="192088"/>
                </a:lnTo>
                <a:lnTo>
                  <a:pt x="231378" y="161528"/>
                </a:lnTo>
                <a:cubicBezTo>
                  <a:pt x="231378" y="154270"/>
                  <a:pt x="225539" y="148431"/>
                  <a:pt x="218281" y="148431"/>
                </a:cubicBezTo>
                <a:lnTo>
                  <a:pt x="152797" y="148431"/>
                </a:lnTo>
                <a:lnTo>
                  <a:pt x="152797" y="192088"/>
                </a:lnTo>
                <a:lnTo>
                  <a:pt x="157163" y="192088"/>
                </a:lnTo>
                <a:cubicBezTo>
                  <a:pt x="166821" y="192088"/>
                  <a:pt x="174625" y="199891"/>
                  <a:pt x="174625" y="209550"/>
                </a:cubicBezTo>
                <a:lnTo>
                  <a:pt x="174625" y="244475"/>
                </a:lnTo>
                <a:cubicBezTo>
                  <a:pt x="174625" y="254134"/>
                  <a:pt x="166821" y="261938"/>
                  <a:pt x="157163" y="261938"/>
                </a:cubicBezTo>
                <a:lnTo>
                  <a:pt x="122238" y="261938"/>
                </a:lnTo>
                <a:cubicBezTo>
                  <a:pt x="112579" y="261938"/>
                  <a:pt x="104775" y="254134"/>
                  <a:pt x="104775" y="244475"/>
                </a:cubicBezTo>
                <a:lnTo>
                  <a:pt x="104775" y="209550"/>
                </a:lnTo>
                <a:cubicBezTo>
                  <a:pt x="104775" y="199891"/>
                  <a:pt x="112579" y="192088"/>
                  <a:pt x="122238" y="192088"/>
                </a:cubicBezTo>
                <a:lnTo>
                  <a:pt x="126603" y="192088"/>
                </a:lnTo>
                <a:lnTo>
                  <a:pt x="126603" y="148431"/>
                </a:lnTo>
                <a:lnTo>
                  <a:pt x="61119" y="148431"/>
                </a:lnTo>
                <a:cubicBezTo>
                  <a:pt x="53861" y="148431"/>
                  <a:pt x="48022" y="154270"/>
                  <a:pt x="48022" y="161528"/>
                </a:cubicBezTo>
                <a:lnTo>
                  <a:pt x="48022" y="192088"/>
                </a:lnTo>
                <a:lnTo>
                  <a:pt x="52388" y="192088"/>
                </a:lnTo>
                <a:cubicBezTo>
                  <a:pt x="62046" y="192088"/>
                  <a:pt x="69850" y="199891"/>
                  <a:pt x="69850" y="209550"/>
                </a:cubicBezTo>
                <a:lnTo>
                  <a:pt x="69850" y="244475"/>
                </a:lnTo>
                <a:cubicBezTo>
                  <a:pt x="69850" y="254134"/>
                  <a:pt x="62046" y="261938"/>
                  <a:pt x="52388" y="261938"/>
                </a:cubicBezTo>
                <a:lnTo>
                  <a:pt x="17463" y="261938"/>
                </a:lnTo>
                <a:cubicBezTo>
                  <a:pt x="7804" y="261938"/>
                  <a:pt x="0" y="254134"/>
                  <a:pt x="0" y="244475"/>
                </a:cubicBezTo>
                <a:lnTo>
                  <a:pt x="0" y="209550"/>
                </a:lnTo>
                <a:cubicBezTo>
                  <a:pt x="0" y="199891"/>
                  <a:pt x="7804" y="192088"/>
                  <a:pt x="17463" y="192088"/>
                </a:cubicBezTo>
                <a:lnTo>
                  <a:pt x="21828" y="192088"/>
                </a:lnTo>
                <a:lnTo>
                  <a:pt x="21828" y="161528"/>
                </a:lnTo>
                <a:cubicBezTo>
                  <a:pt x="21828" y="139809"/>
                  <a:pt x="39400" y="122238"/>
                  <a:pt x="61119" y="122238"/>
                </a:cubicBezTo>
                <a:lnTo>
                  <a:pt x="126603" y="122238"/>
                </a:lnTo>
                <a:lnTo>
                  <a:pt x="126603" y="87313"/>
                </a:lnTo>
                <a:lnTo>
                  <a:pt x="122238" y="87313"/>
                </a:lnTo>
                <a:cubicBezTo>
                  <a:pt x="112579" y="87313"/>
                  <a:pt x="104775" y="79509"/>
                  <a:pt x="104775" y="69850"/>
                </a:cubicBezTo>
                <a:lnTo>
                  <a:pt x="104775" y="34925"/>
                </a:ln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28" name="Text 26"/>
          <p:cNvSpPr/>
          <p:nvPr/>
        </p:nvSpPr>
        <p:spPr>
          <a:xfrm>
            <a:off x="1333500" y="5588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title / level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191000" y="5588000"/>
            <a:ext cx="3238500" cy="76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1500" y="5778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96044" y="13097"/>
                </a:moveTo>
                <a:cubicBezTo>
                  <a:pt x="96044" y="5839"/>
                  <a:pt x="90205" y="0"/>
                  <a:pt x="82947" y="0"/>
                </a:cubicBezTo>
                <a:cubicBezTo>
                  <a:pt x="75689" y="0"/>
                  <a:pt x="69850" y="5839"/>
                  <a:pt x="69850" y="13097"/>
                </a:cubicBezTo>
                <a:lnTo>
                  <a:pt x="69850" y="34925"/>
                </a:lnTo>
                <a:cubicBezTo>
                  <a:pt x="50587" y="34925"/>
                  <a:pt x="34925" y="50587"/>
                  <a:pt x="34925" y="69850"/>
                </a:cubicBezTo>
                <a:lnTo>
                  <a:pt x="13097" y="69850"/>
                </a:lnTo>
                <a:cubicBezTo>
                  <a:pt x="5839" y="69850"/>
                  <a:pt x="0" y="75689"/>
                  <a:pt x="0" y="82947"/>
                </a:cubicBezTo>
                <a:cubicBezTo>
                  <a:pt x="0" y="90205"/>
                  <a:pt x="5839" y="96044"/>
                  <a:pt x="13097" y="96044"/>
                </a:cubicBezTo>
                <a:lnTo>
                  <a:pt x="34925" y="96044"/>
                </a:lnTo>
                <a:lnTo>
                  <a:pt x="34925" y="126603"/>
                </a:lnTo>
                <a:lnTo>
                  <a:pt x="13097" y="126603"/>
                </a:lnTo>
                <a:cubicBezTo>
                  <a:pt x="5839" y="126603"/>
                  <a:pt x="0" y="132442"/>
                  <a:pt x="0" y="139700"/>
                </a:cubicBezTo>
                <a:cubicBezTo>
                  <a:pt x="0" y="146958"/>
                  <a:pt x="5839" y="152797"/>
                  <a:pt x="13097" y="152797"/>
                </a:cubicBezTo>
                <a:lnTo>
                  <a:pt x="34925" y="152797"/>
                </a:lnTo>
                <a:lnTo>
                  <a:pt x="34925" y="183356"/>
                </a:lnTo>
                <a:lnTo>
                  <a:pt x="13097" y="183356"/>
                </a:lnTo>
                <a:cubicBezTo>
                  <a:pt x="5839" y="183356"/>
                  <a:pt x="0" y="189195"/>
                  <a:pt x="0" y="196453"/>
                </a:cubicBezTo>
                <a:cubicBezTo>
                  <a:pt x="0" y="203711"/>
                  <a:pt x="5839" y="209550"/>
                  <a:pt x="13097" y="209550"/>
                </a:cubicBezTo>
                <a:lnTo>
                  <a:pt x="34925" y="209550"/>
                </a:lnTo>
                <a:cubicBezTo>
                  <a:pt x="34925" y="228813"/>
                  <a:pt x="50587" y="244475"/>
                  <a:pt x="69850" y="244475"/>
                </a:cubicBezTo>
                <a:lnTo>
                  <a:pt x="69850" y="266303"/>
                </a:lnTo>
                <a:cubicBezTo>
                  <a:pt x="69850" y="273561"/>
                  <a:pt x="75689" y="279400"/>
                  <a:pt x="82947" y="279400"/>
                </a:cubicBezTo>
                <a:cubicBezTo>
                  <a:pt x="90205" y="279400"/>
                  <a:pt x="96044" y="273561"/>
                  <a:pt x="96044" y="266303"/>
                </a:cubicBezTo>
                <a:lnTo>
                  <a:pt x="96044" y="244475"/>
                </a:lnTo>
                <a:lnTo>
                  <a:pt x="126603" y="244475"/>
                </a:lnTo>
                <a:lnTo>
                  <a:pt x="126603" y="266303"/>
                </a:lnTo>
                <a:cubicBezTo>
                  <a:pt x="126603" y="273561"/>
                  <a:pt x="132442" y="279400"/>
                  <a:pt x="139700" y="279400"/>
                </a:cubicBezTo>
                <a:cubicBezTo>
                  <a:pt x="146958" y="279400"/>
                  <a:pt x="152797" y="273561"/>
                  <a:pt x="152797" y="266303"/>
                </a:cubicBezTo>
                <a:lnTo>
                  <a:pt x="152797" y="244475"/>
                </a:lnTo>
                <a:lnTo>
                  <a:pt x="183356" y="244475"/>
                </a:lnTo>
                <a:lnTo>
                  <a:pt x="183356" y="266303"/>
                </a:lnTo>
                <a:cubicBezTo>
                  <a:pt x="183356" y="273561"/>
                  <a:pt x="189195" y="279400"/>
                  <a:pt x="196453" y="279400"/>
                </a:cubicBezTo>
                <a:cubicBezTo>
                  <a:pt x="203711" y="279400"/>
                  <a:pt x="209550" y="273561"/>
                  <a:pt x="209550" y="266303"/>
                </a:cubicBezTo>
                <a:lnTo>
                  <a:pt x="209550" y="244475"/>
                </a:lnTo>
                <a:cubicBezTo>
                  <a:pt x="228813" y="244475"/>
                  <a:pt x="244475" y="228813"/>
                  <a:pt x="244475" y="209550"/>
                </a:cubicBezTo>
                <a:lnTo>
                  <a:pt x="266303" y="209550"/>
                </a:lnTo>
                <a:cubicBezTo>
                  <a:pt x="273561" y="209550"/>
                  <a:pt x="279400" y="203711"/>
                  <a:pt x="279400" y="196453"/>
                </a:cubicBezTo>
                <a:cubicBezTo>
                  <a:pt x="279400" y="189195"/>
                  <a:pt x="273561" y="183356"/>
                  <a:pt x="266303" y="183356"/>
                </a:cubicBezTo>
                <a:lnTo>
                  <a:pt x="244475" y="183356"/>
                </a:lnTo>
                <a:lnTo>
                  <a:pt x="244475" y="152797"/>
                </a:lnTo>
                <a:lnTo>
                  <a:pt x="266303" y="152797"/>
                </a:lnTo>
                <a:cubicBezTo>
                  <a:pt x="273561" y="152797"/>
                  <a:pt x="279400" y="146958"/>
                  <a:pt x="279400" y="139700"/>
                </a:cubicBezTo>
                <a:cubicBezTo>
                  <a:pt x="279400" y="132442"/>
                  <a:pt x="273561" y="126603"/>
                  <a:pt x="266303" y="126603"/>
                </a:cubicBezTo>
                <a:lnTo>
                  <a:pt x="244475" y="126603"/>
                </a:lnTo>
                <a:lnTo>
                  <a:pt x="244475" y="96044"/>
                </a:lnTo>
                <a:lnTo>
                  <a:pt x="266303" y="96044"/>
                </a:lnTo>
                <a:cubicBezTo>
                  <a:pt x="273561" y="96044"/>
                  <a:pt x="279400" y="90205"/>
                  <a:pt x="279400" y="82947"/>
                </a:cubicBezTo>
                <a:cubicBezTo>
                  <a:pt x="279400" y="75689"/>
                  <a:pt x="273561" y="69850"/>
                  <a:pt x="266303" y="69850"/>
                </a:cubicBezTo>
                <a:lnTo>
                  <a:pt x="244475" y="69850"/>
                </a:lnTo>
                <a:cubicBezTo>
                  <a:pt x="244475" y="50587"/>
                  <a:pt x="228813" y="34925"/>
                  <a:pt x="209550" y="34925"/>
                </a:cubicBezTo>
                <a:lnTo>
                  <a:pt x="209550" y="13097"/>
                </a:lnTo>
                <a:cubicBezTo>
                  <a:pt x="209550" y="5839"/>
                  <a:pt x="203711" y="0"/>
                  <a:pt x="196453" y="0"/>
                </a:cubicBezTo>
                <a:cubicBezTo>
                  <a:pt x="189195" y="0"/>
                  <a:pt x="183356" y="5839"/>
                  <a:pt x="183356" y="13097"/>
                </a:cubicBezTo>
                <a:lnTo>
                  <a:pt x="183356" y="34925"/>
                </a:lnTo>
                <a:lnTo>
                  <a:pt x="152797" y="34925"/>
                </a:lnTo>
                <a:lnTo>
                  <a:pt x="152797" y="13097"/>
                </a:lnTo>
                <a:cubicBezTo>
                  <a:pt x="152797" y="5839"/>
                  <a:pt x="146958" y="0"/>
                  <a:pt x="139700" y="0"/>
                </a:cubicBezTo>
                <a:cubicBezTo>
                  <a:pt x="132442" y="0"/>
                  <a:pt x="126603" y="5839"/>
                  <a:pt x="126603" y="13097"/>
                </a:cubicBezTo>
                <a:lnTo>
                  <a:pt x="126603" y="34925"/>
                </a:lnTo>
                <a:lnTo>
                  <a:pt x="96044" y="34925"/>
                </a:lnTo>
                <a:lnTo>
                  <a:pt x="96044" y="13097"/>
                </a:lnTo>
                <a:close/>
                <a:moveTo>
                  <a:pt x="87313" y="69850"/>
                </a:moveTo>
                <a:lnTo>
                  <a:pt x="192088" y="69850"/>
                </a:lnTo>
                <a:cubicBezTo>
                  <a:pt x="201746" y="69850"/>
                  <a:pt x="209550" y="77654"/>
                  <a:pt x="209550" y="87313"/>
                </a:cubicBezTo>
                <a:lnTo>
                  <a:pt x="209550" y="192088"/>
                </a:lnTo>
                <a:cubicBezTo>
                  <a:pt x="209550" y="201746"/>
                  <a:pt x="201746" y="209550"/>
                  <a:pt x="192088" y="209550"/>
                </a:cubicBezTo>
                <a:lnTo>
                  <a:pt x="87313" y="209550"/>
                </a:lnTo>
                <a:cubicBezTo>
                  <a:pt x="77654" y="209550"/>
                  <a:pt x="69850" y="201746"/>
                  <a:pt x="69850" y="192088"/>
                </a:cubicBezTo>
                <a:lnTo>
                  <a:pt x="69850" y="87313"/>
                </a:lnTo>
                <a:cubicBezTo>
                  <a:pt x="69850" y="77654"/>
                  <a:pt x="77654" y="69850"/>
                  <a:pt x="87313" y="69850"/>
                </a:cubicBezTo>
                <a:close/>
                <a:moveTo>
                  <a:pt x="96044" y="96044"/>
                </a:moveTo>
                <a:lnTo>
                  <a:pt x="96044" y="183356"/>
                </a:lnTo>
                <a:lnTo>
                  <a:pt x="183356" y="183356"/>
                </a:lnTo>
                <a:lnTo>
                  <a:pt x="183356" y="96044"/>
                </a:lnTo>
                <a:lnTo>
                  <a:pt x="96044" y="96044"/>
                </a:ln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31" name="Text 29"/>
          <p:cNvSpPr/>
          <p:nvPr/>
        </p:nvSpPr>
        <p:spPr>
          <a:xfrm>
            <a:off x="4762500" y="5588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domain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6540500"/>
            <a:ext cx="3238500" cy="76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33" name="Shape 31"/>
          <p:cNvSpPr/>
          <p:nvPr/>
        </p:nvSpPr>
        <p:spPr>
          <a:xfrm>
            <a:off x="952500" y="6731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34" name="Text 32"/>
          <p:cNvSpPr/>
          <p:nvPr/>
        </p:nvSpPr>
        <p:spPr>
          <a:xfrm>
            <a:off x="1333500" y="6540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Continent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factor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191000" y="6540500"/>
            <a:ext cx="3238500" cy="76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6731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3283" y="106849"/>
                </a:moveTo>
                <a:lnTo>
                  <a:pt x="124760" y="153834"/>
                </a:lnTo>
                <a:cubicBezTo>
                  <a:pt x="129514" y="156017"/>
                  <a:pt x="134558" y="157163"/>
                  <a:pt x="139700" y="157163"/>
                </a:cubicBezTo>
                <a:cubicBezTo>
                  <a:pt x="144842" y="157163"/>
                  <a:pt x="149886" y="156017"/>
                  <a:pt x="154640" y="153834"/>
                </a:cubicBezTo>
                <a:lnTo>
                  <a:pt x="272221" y="99373"/>
                </a:lnTo>
                <a:cubicBezTo>
                  <a:pt x="276587" y="97353"/>
                  <a:pt x="279400" y="92606"/>
                  <a:pt x="279400" y="87312"/>
                </a:cubicBezTo>
                <a:cubicBezTo>
                  <a:pt x="279400" y="82019"/>
                  <a:pt x="276587" y="77272"/>
                  <a:pt x="272221" y="75252"/>
                </a:cubicBezTo>
                <a:lnTo>
                  <a:pt x="154640" y="20791"/>
                </a:lnTo>
                <a:cubicBezTo>
                  <a:pt x="149886" y="18608"/>
                  <a:pt x="144842" y="17463"/>
                  <a:pt x="139700" y="17463"/>
                </a:cubicBezTo>
                <a:cubicBezTo>
                  <a:pt x="134558" y="17463"/>
                  <a:pt x="129514" y="18608"/>
                  <a:pt x="124760" y="20791"/>
                </a:cubicBezTo>
                <a:lnTo>
                  <a:pt x="7179" y="75252"/>
                </a:lnTo>
                <a:cubicBezTo>
                  <a:pt x="2813" y="77272"/>
                  <a:pt x="0" y="82019"/>
                  <a:pt x="0" y="87313"/>
                </a:cubicBezTo>
                <a:lnTo>
                  <a:pt x="0" y="248841"/>
                </a:lnTo>
                <a:cubicBezTo>
                  <a:pt x="0" y="256098"/>
                  <a:pt x="5190" y="261938"/>
                  <a:pt x="11642" y="261938"/>
                </a:cubicBezTo>
                <a:cubicBezTo>
                  <a:pt x="18093" y="261938"/>
                  <a:pt x="23283" y="256098"/>
                  <a:pt x="23283" y="248841"/>
                </a:cubicBezTo>
                <a:lnTo>
                  <a:pt x="23283" y="106849"/>
                </a:lnTo>
                <a:close/>
                <a:moveTo>
                  <a:pt x="46567" y="145976"/>
                </a:moveTo>
                <a:lnTo>
                  <a:pt x="46567" y="209550"/>
                </a:lnTo>
                <a:cubicBezTo>
                  <a:pt x="46567" y="238472"/>
                  <a:pt x="88283" y="261938"/>
                  <a:pt x="139700" y="261938"/>
                </a:cubicBezTo>
                <a:cubicBezTo>
                  <a:pt x="191117" y="261938"/>
                  <a:pt x="232833" y="238472"/>
                  <a:pt x="232833" y="209550"/>
                </a:cubicBezTo>
                <a:lnTo>
                  <a:pt x="232833" y="145921"/>
                </a:lnTo>
                <a:lnTo>
                  <a:pt x="163517" y="178063"/>
                </a:lnTo>
                <a:cubicBezTo>
                  <a:pt x="155950" y="181555"/>
                  <a:pt x="147898" y="183356"/>
                  <a:pt x="139700" y="183356"/>
                </a:cubicBezTo>
                <a:cubicBezTo>
                  <a:pt x="131502" y="183356"/>
                  <a:pt x="123450" y="181555"/>
                  <a:pt x="115883" y="178063"/>
                </a:cubicBezTo>
                <a:lnTo>
                  <a:pt x="46567" y="145921"/>
                </a:ln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37" name="Text 35"/>
          <p:cNvSpPr/>
          <p:nvPr/>
        </p:nvSpPr>
        <p:spPr>
          <a:xfrm>
            <a:off x="4762500" y="6540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degree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2000" y="1587500"/>
            <a:ext cx="7112000" cy="57150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9" name="Text 37"/>
          <p:cNvSpPr/>
          <p:nvPr/>
        </p:nvSpPr>
        <p:spPr>
          <a:xfrm>
            <a:off x="8763000" y="1905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Variable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8763000" y="2413000"/>
            <a:ext cx="762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1" name="Shape 39"/>
          <p:cNvSpPr/>
          <p:nvPr/>
        </p:nvSpPr>
        <p:spPr>
          <a:xfrm>
            <a:off x="87630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59080" y="28575"/>
                </a:moveTo>
                <a:cubicBezTo>
                  <a:pt x="259080" y="12740"/>
                  <a:pt x="279463" y="0"/>
                  <a:pt x="304800" y="0"/>
                </a:cubicBezTo>
                <a:cubicBezTo>
                  <a:pt x="330137" y="0"/>
                  <a:pt x="350520" y="12740"/>
                  <a:pt x="350520" y="28575"/>
                </a:cubicBezTo>
                <a:lnTo>
                  <a:pt x="350520" y="76200"/>
                </a:lnTo>
                <a:lnTo>
                  <a:pt x="457200" y="76200"/>
                </a:lnTo>
                <a:cubicBezTo>
                  <a:pt x="490919" y="76200"/>
                  <a:pt x="518160" y="93226"/>
                  <a:pt x="518160" y="114300"/>
                </a:cubicBezTo>
                <a:cubicBezTo>
                  <a:pt x="518160" y="135374"/>
                  <a:pt x="490919" y="152400"/>
                  <a:pt x="457200" y="152400"/>
                </a:cubicBezTo>
                <a:lnTo>
                  <a:pt x="238315" y="152400"/>
                </a:lnTo>
                <a:cubicBezTo>
                  <a:pt x="190881" y="152400"/>
                  <a:pt x="152400" y="176451"/>
                  <a:pt x="152400" y="206097"/>
                </a:cubicBezTo>
                <a:cubicBezTo>
                  <a:pt x="152400" y="232886"/>
                  <a:pt x="183832" y="255508"/>
                  <a:pt x="226124" y="259318"/>
                </a:cubicBezTo>
                <a:lnTo>
                  <a:pt x="400622" y="274915"/>
                </a:lnTo>
                <a:cubicBezTo>
                  <a:pt x="503111" y="284083"/>
                  <a:pt x="579120" y="338852"/>
                  <a:pt x="579120" y="403503"/>
                </a:cubicBezTo>
                <a:cubicBezTo>
                  <a:pt x="579120" y="475298"/>
                  <a:pt x="485966" y="533400"/>
                  <a:pt x="371284" y="533400"/>
                </a:cubicBezTo>
                <a:lnTo>
                  <a:pt x="350520" y="533400"/>
                </a:lnTo>
                <a:lnTo>
                  <a:pt x="350520" y="581025"/>
                </a:lnTo>
                <a:cubicBezTo>
                  <a:pt x="350520" y="596860"/>
                  <a:pt x="330137" y="609600"/>
                  <a:pt x="304800" y="609600"/>
                </a:cubicBezTo>
                <a:cubicBezTo>
                  <a:pt x="279463" y="609600"/>
                  <a:pt x="259080" y="596860"/>
                  <a:pt x="259080" y="581025"/>
                </a:cubicBezTo>
                <a:lnTo>
                  <a:pt x="259080" y="533400"/>
                </a:lnTo>
                <a:lnTo>
                  <a:pt x="121920" y="533400"/>
                </a:lnTo>
                <a:cubicBezTo>
                  <a:pt x="88202" y="533400"/>
                  <a:pt x="60960" y="516374"/>
                  <a:pt x="60960" y="495300"/>
                </a:cubicBezTo>
                <a:cubicBezTo>
                  <a:pt x="60960" y="474226"/>
                  <a:pt x="88202" y="457200"/>
                  <a:pt x="121920" y="457200"/>
                </a:cubicBezTo>
                <a:lnTo>
                  <a:pt x="371284" y="457200"/>
                </a:lnTo>
                <a:cubicBezTo>
                  <a:pt x="418719" y="457200"/>
                  <a:pt x="457200" y="433149"/>
                  <a:pt x="457200" y="403503"/>
                </a:cubicBezTo>
                <a:cubicBezTo>
                  <a:pt x="457200" y="376714"/>
                  <a:pt x="425767" y="354092"/>
                  <a:pt x="383477" y="350282"/>
                </a:cubicBezTo>
                <a:lnTo>
                  <a:pt x="208979" y="334685"/>
                </a:lnTo>
                <a:cubicBezTo>
                  <a:pt x="106490" y="325636"/>
                  <a:pt x="30480" y="270748"/>
                  <a:pt x="30480" y="206097"/>
                </a:cubicBezTo>
                <a:cubicBezTo>
                  <a:pt x="30480" y="134422"/>
                  <a:pt x="123635" y="76200"/>
                  <a:pt x="238315" y="76200"/>
                </a:cubicBezTo>
                <a:lnTo>
                  <a:pt x="259080" y="76200"/>
                </a:lnTo>
                <a:lnTo>
                  <a:pt x="259080" y="28575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42" name="Text 40"/>
          <p:cNvSpPr/>
          <p:nvPr/>
        </p:nvSpPr>
        <p:spPr>
          <a:xfrm>
            <a:off x="8763000" y="3619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Salary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8763000" y="4191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numeric value representing the annual compensation of IT professionals.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763000" y="533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Type: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63000" y="5778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Task: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continuous salary values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61000" y="4953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 &amp; Preprocessing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4572000" cy="203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87500"/>
            <a:ext cx="508000" cy="5080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87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22400" y="1651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6000" y="2222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Handled missing values through appropriate imputation strategies to preserve data integrity.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8000" y="1587500"/>
            <a:ext cx="4572000" cy="203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6" name="Shape 14"/>
          <p:cNvSpPr/>
          <p:nvPr/>
        </p:nvSpPr>
        <p:spPr>
          <a:xfrm>
            <a:off x="5588000" y="1587500"/>
            <a:ext cx="558800" cy="5080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17" name="Text 15"/>
          <p:cNvSpPr/>
          <p:nvPr/>
        </p:nvSpPr>
        <p:spPr>
          <a:xfrm>
            <a:off x="5588000" y="1587500"/>
            <a:ext cx="558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48400" y="1651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Duplicate Removal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42000" y="2222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duplicate records to ensure each entry contributes unique information.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414000" y="1587500"/>
            <a:ext cx="5080000" cy="203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14000" y="1587500"/>
            <a:ext cx="558800" cy="508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2" name="Text 20"/>
          <p:cNvSpPr/>
          <p:nvPr/>
        </p:nvSpPr>
        <p:spPr>
          <a:xfrm>
            <a:off x="10414000" y="1587500"/>
            <a:ext cx="558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074400" y="1651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IQR Outlier Treatment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68000" y="22225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Interquartile Range method to cap extreme salary values for model robustness.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3937000"/>
            <a:ext cx="14732000" cy="43180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4191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IQR Method Explained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143000" y="4699000"/>
            <a:ext cx="762000" cy="25400"/>
          </a:xfrm>
          <a:prstGeom prst="rect">
            <a:avLst/>
          </a:prstGeom>
          <a:solidFill>
            <a:srgbClr val="B87333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26"/>
              <p:cNvSpPr/>
              <p:nvPr/>
            </p:nvSpPr>
            <p:spPr>
              <a:xfrm>
                <a:off x="1143000" y="4953000"/>
                <a:ext cx="6350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IQR</m:t>
                      </m:r>
                      <m:r>
                        <a:rPr lang="en-US" sz="20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4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Q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3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4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Q</m:t>
                          </m:r>
                        </m:e>
                        <m:sub>
                          <m:r>
                            <a:rPr lang="en-US" sz="14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 26"/>
              <p:cNvSpPr/>
              <p:nvPr/>
            </p:nvSpPr>
            <p:spPr>
              <a:xfrm>
                <a:off x="1143000" y="4953000"/>
                <a:ext cx="6350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20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\text{IQR} = Q_3 - Q_1 \)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27"/>
              <p:cNvSpPr/>
              <p:nvPr/>
            </p:nvSpPr>
            <p:spPr>
              <a:xfrm>
                <a:off x="1143000" y="5588000"/>
                <a:ext cx="6350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Lower Bound: </a:t>
                </a:r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Q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1.5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×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IQR</m:t>
                      </m:r>
                    </m:oMath>
                  </m:oMathPara>
                </a14:m>
                <a:pPr algn="l">
                  <a:lnSpc>
                    <a:spcPct val="120000"/>
                  </a:lnSpc>
                </a:pPr>
                <a:r>
                  <a:rPr lang="en-US" sz="18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 |  Upper Bound: </a:t>
                </a:r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Q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FFFFFF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3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1.5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×</m:t>
                      </m:r>
                      <m:r>
                        <a:rPr lang="en-US" sz="1800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IQR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9" name="Text 27"/>
              <p:cNvSpPr/>
              <p:nvPr/>
            </p:nvSpPr>
            <p:spPr>
              <a:xfrm>
                <a:off x="1143000" y="5588000"/>
                <a:ext cx="6350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Lower Bound: </a:t>
                </a:r>
                <a:pPr algn="l">
                  <a:lnSpc>
                    <a:spcPct val="120000"/>
                  </a:lnSpc>
                </a:pPr>
                <a:r>
                  <a:rPr lang="en-US" sz="18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Q_1 - 1.5 \times \text{IQR} \)</a:t>
                </a:r>
                <a:pPr algn="l">
                  <a:lnSpc>
                    <a:spcPct val="120000"/>
                  </a:lnSpc>
                </a:pPr>
                <a:r>
                  <a:rPr lang="en-US" sz="18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 |  Upper Bound: </a:t>
                </a:r>
                <a:pPr algn="l">
                  <a:lnSpc>
                    <a:spcPct val="120000"/>
                  </a:lnSpc>
                </a:pPr>
                <a:r>
                  <a:rPr lang="en-US" sz="18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Q_3 + 1.5 \times \text{IQR} \)</a:t>
                </a:r>
                <a:endParaRPr lang="en-US" sz="1800" dirty="0"/>
              </a:p>
            </p:txBody>
          </p:sp>
        </mc:Fallback>
      </mc:AlternateContent>
      <p:sp>
        <p:nvSpPr>
          <p:cNvPr id="30" name="Text 28"/>
          <p:cNvSpPr/>
          <p:nvPr/>
        </p:nvSpPr>
        <p:spPr>
          <a:xfrm>
            <a:off x="1143000" y="6350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 Concept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43000" y="6794500"/>
            <a:ext cx="3556000" cy="635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74930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99000" y="6794500"/>
            <a:ext cx="2540000" cy="635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4" name="Text 32"/>
          <p:cNvSpPr/>
          <p:nvPr/>
        </p:nvSpPr>
        <p:spPr>
          <a:xfrm>
            <a:off x="5334000" y="7493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39000" y="6794500"/>
            <a:ext cx="3556000" cy="635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636000" y="74930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8000" y="7086600"/>
            <a:ext cx="635000" cy="0"/>
          </a:xfrm>
          <a:prstGeom prst="straightConnector1">
            <a:avLst/>
          </a:prstGeom>
          <a:noFill/>
          <a:ln w="25400">
            <a:solidFill>
              <a:srgbClr val="FFFFFF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0795000" y="7086600"/>
            <a:ext cx="635000" cy="0"/>
          </a:xfrm>
          <a:prstGeom prst="straightConnector1">
            <a:avLst/>
          </a:prstGeom>
          <a:noFill/>
          <a:ln w="25400">
            <a:solidFill>
              <a:srgbClr val="FFFFFF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54000" y="7023100"/>
            <a:ext cx="127000" cy="1270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0" name="Shape 38"/>
          <p:cNvSpPr/>
          <p:nvPr/>
        </p:nvSpPr>
        <p:spPr>
          <a:xfrm>
            <a:off x="11557000" y="7023100"/>
            <a:ext cx="127000" cy="1270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1" name="Text 39"/>
          <p:cNvSpPr/>
          <p:nvPr/>
        </p:nvSpPr>
        <p:spPr>
          <a:xfrm>
            <a:off x="11430000" y="67945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82000" y="4191000"/>
            <a:ext cx="673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Rationale: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Capping outliers ensures model robustness and prevents skewed predictions from anomalous data points.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analysis-ready dataset with consistent distributions.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61000" y="4953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 (EDA)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986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visualizations to understand data patterns and relationships.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2095500"/>
            <a:ext cx="7112000" cy="3048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222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Salary Distribution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514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Histogram of target variable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16000" y="2895600"/>
            <a:ext cx="6604000" cy="2095500"/>
          </a:xfrm>
          <a:prstGeom prst="rect">
            <a:avLst/>
          </a:prstGeom>
          <a:solidFill>
            <a:srgbClr val="FFFFFF"/>
          </a:solidFill>
          <a:ln w="12700"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70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31750"/>
                </a:moveTo>
                <a:cubicBezTo>
                  <a:pt x="49312" y="31750"/>
                  <a:pt x="63500" y="45938"/>
                  <a:pt x="63500" y="63500"/>
                </a:cubicBezTo>
                <a:lnTo>
                  <a:pt x="63500" y="396875"/>
                </a:lnTo>
                <a:cubicBezTo>
                  <a:pt x="63500" y="405606"/>
                  <a:pt x="70644" y="412750"/>
                  <a:pt x="79375" y="412750"/>
                </a:cubicBezTo>
                <a:lnTo>
                  <a:pt x="476250" y="412750"/>
                </a:lnTo>
                <a:cubicBezTo>
                  <a:pt x="493812" y="412750"/>
                  <a:pt x="508000" y="426938"/>
                  <a:pt x="508000" y="444500"/>
                </a:cubicBezTo>
                <a:cubicBezTo>
                  <a:pt x="508000" y="462062"/>
                  <a:pt x="493812" y="476250"/>
                  <a:pt x="476250" y="476250"/>
                </a:cubicBezTo>
                <a:lnTo>
                  <a:pt x="79375" y="476250"/>
                </a:lnTo>
                <a:cubicBezTo>
                  <a:pt x="35520" y="476250"/>
                  <a:pt x="0" y="440730"/>
                  <a:pt x="0" y="396875"/>
                </a:cubicBezTo>
                <a:lnTo>
                  <a:pt x="0" y="63500"/>
                </a:lnTo>
                <a:cubicBezTo>
                  <a:pt x="0" y="45938"/>
                  <a:pt x="14188" y="31750"/>
                  <a:pt x="31750" y="31750"/>
                </a:cubicBezTo>
                <a:close/>
                <a:moveTo>
                  <a:pt x="142875" y="222250"/>
                </a:moveTo>
                <a:cubicBezTo>
                  <a:pt x="160437" y="222250"/>
                  <a:pt x="174625" y="236438"/>
                  <a:pt x="174625" y="254000"/>
                </a:cubicBezTo>
                <a:lnTo>
                  <a:pt x="174625" y="317500"/>
                </a:lnTo>
                <a:cubicBezTo>
                  <a:pt x="174625" y="335062"/>
                  <a:pt x="160437" y="349250"/>
                  <a:pt x="142875" y="349250"/>
                </a:cubicBezTo>
                <a:cubicBezTo>
                  <a:pt x="125313" y="349250"/>
                  <a:pt x="111125" y="335062"/>
                  <a:pt x="111125" y="317500"/>
                </a:cubicBezTo>
                <a:lnTo>
                  <a:pt x="111125" y="254000"/>
                </a:lnTo>
                <a:cubicBezTo>
                  <a:pt x="111125" y="236438"/>
                  <a:pt x="125313" y="222250"/>
                  <a:pt x="142875" y="222250"/>
                </a:cubicBezTo>
                <a:close/>
                <a:moveTo>
                  <a:pt x="285750" y="158750"/>
                </a:moveTo>
                <a:lnTo>
                  <a:pt x="285750" y="317500"/>
                </a:lnTo>
                <a:cubicBezTo>
                  <a:pt x="285750" y="335062"/>
                  <a:pt x="271562" y="349250"/>
                  <a:pt x="254000" y="349250"/>
                </a:cubicBezTo>
                <a:cubicBezTo>
                  <a:pt x="236438" y="349250"/>
                  <a:pt x="222250" y="335062"/>
                  <a:pt x="222250" y="317500"/>
                </a:cubicBezTo>
                <a:lnTo>
                  <a:pt x="222250" y="158750"/>
                </a:lnTo>
                <a:cubicBezTo>
                  <a:pt x="222250" y="141188"/>
                  <a:pt x="236438" y="127000"/>
                  <a:pt x="254000" y="127000"/>
                </a:cubicBezTo>
                <a:cubicBezTo>
                  <a:pt x="271562" y="127000"/>
                  <a:pt x="285750" y="141188"/>
                  <a:pt x="285750" y="158750"/>
                </a:cubicBezTo>
                <a:close/>
                <a:moveTo>
                  <a:pt x="365125" y="190500"/>
                </a:moveTo>
                <a:cubicBezTo>
                  <a:pt x="382687" y="190500"/>
                  <a:pt x="396875" y="204688"/>
                  <a:pt x="396875" y="222250"/>
                </a:cubicBezTo>
                <a:lnTo>
                  <a:pt x="396875" y="317500"/>
                </a:lnTo>
                <a:cubicBezTo>
                  <a:pt x="396875" y="335062"/>
                  <a:pt x="382687" y="349250"/>
                  <a:pt x="365125" y="349250"/>
                </a:cubicBezTo>
                <a:cubicBezTo>
                  <a:pt x="347563" y="349250"/>
                  <a:pt x="333375" y="335062"/>
                  <a:pt x="333375" y="317500"/>
                </a:cubicBezTo>
                <a:lnTo>
                  <a:pt x="333375" y="222250"/>
                </a:lnTo>
                <a:cubicBezTo>
                  <a:pt x="333375" y="204688"/>
                  <a:pt x="347563" y="190500"/>
                  <a:pt x="365125" y="190500"/>
                </a:cubicBezTo>
                <a:close/>
                <a:moveTo>
                  <a:pt x="508000" y="95250"/>
                </a:moveTo>
                <a:lnTo>
                  <a:pt x="508000" y="317500"/>
                </a:lnTo>
                <a:cubicBezTo>
                  <a:pt x="508000" y="335062"/>
                  <a:pt x="493812" y="349250"/>
                  <a:pt x="476250" y="349250"/>
                </a:cubicBezTo>
                <a:cubicBezTo>
                  <a:pt x="458688" y="349250"/>
                  <a:pt x="444500" y="335062"/>
                  <a:pt x="444500" y="317500"/>
                </a:cubicBezTo>
                <a:lnTo>
                  <a:pt x="444500" y="95250"/>
                </a:lnTo>
                <a:cubicBezTo>
                  <a:pt x="444500" y="77688"/>
                  <a:pt x="458688" y="63500"/>
                  <a:pt x="476250" y="63500"/>
                </a:cubicBezTo>
                <a:cubicBezTo>
                  <a:pt x="493812" y="63500"/>
                  <a:pt x="508000" y="77688"/>
                  <a:pt x="508000" y="95250"/>
                </a:cubicBez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41656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Salary Distribution Histogram]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000" y="2095500"/>
            <a:ext cx="7366000" cy="3048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22225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Boxplots by Category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25146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continents and specializations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82000" y="2895600"/>
            <a:ext cx="6858000" cy="2095500"/>
          </a:xfrm>
          <a:prstGeom prst="rect">
            <a:avLst/>
          </a:prstGeom>
          <a:solidFill>
            <a:srgbClr val="FFFFFF"/>
          </a:solidFill>
          <a:ln w="12700"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31750"/>
                </a:moveTo>
                <a:cubicBezTo>
                  <a:pt x="49312" y="31750"/>
                  <a:pt x="63500" y="45938"/>
                  <a:pt x="63500" y="63500"/>
                </a:cubicBezTo>
                <a:lnTo>
                  <a:pt x="63500" y="396875"/>
                </a:lnTo>
                <a:cubicBezTo>
                  <a:pt x="63500" y="405606"/>
                  <a:pt x="70644" y="412750"/>
                  <a:pt x="79375" y="412750"/>
                </a:cubicBezTo>
                <a:lnTo>
                  <a:pt x="476250" y="412750"/>
                </a:lnTo>
                <a:cubicBezTo>
                  <a:pt x="493812" y="412750"/>
                  <a:pt x="508000" y="426938"/>
                  <a:pt x="508000" y="444500"/>
                </a:cubicBezTo>
                <a:cubicBezTo>
                  <a:pt x="508000" y="462062"/>
                  <a:pt x="493812" y="476250"/>
                  <a:pt x="476250" y="476250"/>
                </a:cubicBezTo>
                <a:lnTo>
                  <a:pt x="79375" y="476250"/>
                </a:lnTo>
                <a:cubicBezTo>
                  <a:pt x="35520" y="476250"/>
                  <a:pt x="0" y="440730"/>
                  <a:pt x="0" y="396875"/>
                </a:cubicBezTo>
                <a:lnTo>
                  <a:pt x="0" y="63500"/>
                </a:lnTo>
                <a:cubicBezTo>
                  <a:pt x="0" y="45938"/>
                  <a:pt x="14188" y="31750"/>
                  <a:pt x="31750" y="31750"/>
                </a:cubicBezTo>
                <a:close/>
                <a:moveTo>
                  <a:pt x="127000" y="95250"/>
                </a:moveTo>
                <a:cubicBezTo>
                  <a:pt x="127000" y="77688"/>
                  <a:pt x="141188" y="63500"/>
                  <a:pt x="158750" y="63500"/>
                </a:cubicBezTo>
                <a:lnTo>
                  <a:pt x="349250" y="63500"/>
                </a:lnTo>
                <a:cubicBezTo>
                  <a:pt x="366812" y="63500"/>
                  <a:pt x="381000" y="77688"/>
                  <a:pt x="381000" y="95250"/>
                </a:cubicBezTo>
                <a:cubicBezTo>
                  <a:pt x="381000" y="112812"/>
                  <a:pt x="366812" y="127000"/>
                  <a:pt x="349250" y="127000"/>
                </a:cubicBezTo>
                <a:lnTo>
                  <a:pt x="158750" y="127000"/>
                </a:lnTo>
                <a:cubicBezTo>
                  <a:pt x="141188" y="127000"/>
                  <a:pt x="127000" y="112812"/>
                  <a:pt x="127000" y="95250"/>
                </a:cubicBezTo>
                <a:close/>
                <a:moveTo>
                  <a:pt x="158750" y="174625"/>
                </a:moveTo>
                <a:lnTo>
                  <a:pt x="285750" y="174625"/>
                </a:lnTo>
                <a:cubicBezTo>
                  <a:pt x="303312" y="174625"/>
                  <a:pt x="317500" y="188813"/>
                  <a:pt x="317500" y="206375"/>
                </a:cubicBezTo>
                <a:cubicBezTo>
                  <a:pt x="317500" y="223937"/>
                  <a:pt x="303312" y="238125"/>
                  <a:pt x="285750" y="238125"/>
                </a:cubicBezTo>
                <a:lnTo>
                  <a:pt x="158750" y="238125"/>
                </a:lnTo>
                <a:cubicBezTo>
                  <a:pt x="141188" y="238125"/>
                  <a:pt x="127000" y="223937"/>
                  <a:pt x="127000" y="206375"/>
                </a:cubicBezTo>
                <a:cubicBezTo>
                  <a:pt x="127000" y="188813"/>
                  <a:pt x="141188" y="174625"/>
                  <a:pt x="158750" y="174625"/>
                </a:cubicBezTo>
                <a:close/>
                <a:moveTo>
                  <a:pt x="158750" y="285750"/>
                </a:moveTo>
                <a:lnTo>
                  <a:pt x="412750" y="285750"/>
                </a:lnTo>
                <a:cubicBezTo>
                  <a:pt x="430312" y="285750"/>
                  <a:pt x="444500" y="299938"/>
                  <a:pt x="444500" y="317500"/>
                </a:cubicBezTo>
                <a:cubicBezTo>
                  <a:pt x="444500" y="335062"/>
                  <a:pt x="430312" y="349250"/>
                  <a:pt x="412750" y="349250"/>
                </a:cubicBezTo>
                <a:lnTo>
                  <a:pt x="158750" y="349250"/>
                </a:lnTo>
                <a:cubicBezTo>
                  <a:pt x="141188" y="349250"/>
                  <a:pt x="127000" y="335062"/>
                  <a:pt x="127000" y="317500"/>
                </a:cubicBezTo>
                <a:cubicBezTo>
                  <a:pt x="127000" y="299938"/>
                  <a:pt x="141188" y="285750"/>
                  <a:pt x="158750" y="285750"/>
                </a:cubicBez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22" name="Text 20"/>
          <p:cNvSpPr/>
          <p:nvPr/>
        </p:nvSpPr>
        <p:spPr>
          <a:xfrm>
            <a:off x="9652000" y="4165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Boxplot Visualizations]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5397500"/>
            <a:ext cx="14732000" cy="3048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5524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Heatmap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58166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Relationships between numerical features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16000" y="6197600"/>
            <a:ext cx="14224000" cy="2095500"/>
          </a:xfrm>
          <a:prstGeom prst="rect">
            <a:avLst/>
          </a:prstGeom>
          <a:solidFill>
            <a:srgbClr val="FFFFFF"/>
          </a:solidFill>
          <a:ln w="12700"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47000" y="685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5429" y="95250"/>
                </a:moveTo>
                <a:lnTo>
                  <a:pt x="435429" y="158750"/>
                </a:lnTo>
                <a:lnTo>
                  <a:pt x="362857" y="158750"/>
                </a:lnTo>
                <a:lnTo>
                  <a:pt x="362857" y="95250"/>
                </a:lnTo>
                <a:lnTo>
                  <a:pt x="435429" y="95250"/>
                </a:lnTo>
                <a:close/>
                <a:moveTo>
                  <a:pt x="435429" y="222250"/>
                </a:moveTo>
                <a:lnTo>
                  <a:pt x="435429" y="285750"/>
                </a:lnTo>
                <a:lnTo>
                  <a:pt x="362857" y="285750"/>
                </a:lnTo>
                <a:lnTo>
                  <a:pt x="362857" y="222250"/>
                </a:lnTo>
                <a:lnTo>
                  <a:pt x="435429" y="222250"/>
                </a:lnTo>
                <a:close/>
                <a:moveTo>
                  <a:pt x="435429" y="349250"/>
                </a:moveTo>
                <a:lnTo>
                  <a:pt x="435429" y="412750"/>
                </a:lnTo>
                <a:lnTo>
                  <a:pt x="362857" y="412750"/>
                </a:lnTo>
                <a:lnTo>
                  <a:pt x="362857" y="349250"/>
                </a:lnTo>
                <a:lnTo>
                  <a:pt x="435429" y="349250"/>
                </a:lnTo>
                <a:close/>
                <a:moveTo>
                  <a:pt x="290286" y="285750"/>
                </a:moveTo>
                <a:lnTo>
                  <a:pt x="217714" y="285750"/>
                </a:lnTo>
                <a:lnTo>
                  <a:pt x="217714" y="222250"/>
                </a:lnTo>
                <a:lnTo>
                  <a:pt x="290286" y="222250"/>
                </a:lnTo>
                <a:lnTo>
                  <a:pt x="290286" y="285750"/>
                </a:lnTo>
                <a:close/>
                <a:moveTo>
                  <a:pt x="217714" y="349250"/>
                </a:moveTo>
                <a:lnTo>
                  <a:pt x="290286" y="349250"/>
                </a:lnTo>
                <a:lnTo>
                  <a:pt x="290286" y="412750"/>
                </a:lnTo>
                <a:lnTo>
                  <a:pt x="217714" y="412750"/>
                </a:lnTo>
                <a:lnTo>
                  <a:pt x="217714" y="349250"/>
                </a:lnTo>
                <a:close/>
                <a:moveTo>
                  <a:pt x="145143" y="285750"/>
                </a:moveTo>
                <a:lnTo>
                  <a:pt x="72571" y="285750"/>
                </a:lnTo>
                <a:lnTo>
                  <a:pt x="72571" y="222250"/>
                </a:lnTo>
                <a:lnTo>
                  <a:pt x="145143" y="222250"/>
                </a:lnTo>
                <a:lnTo>
                  <a:pt x="145143" y="285750"/>
                </a:lnTo>
                <a:close/>
                <a:moveTo>
                  <a:pt x="72571" y="349250"/>
                </a:moveTo>
                <a:lnTo>
                  <a:pt x="145143" y="349250"/>
                </a:lnTo>
                <a:lnTo>
                  <a:pt x="145143" y="412750"/>
                </a:lnTo>
                <a:lnTo>
                  <a:pt x="72571" y="412750"/>
                </a:lnTo>
                <a:lnTo>
                  <a:pt x="72571" y="349250"/>
                </a:lnTo>
                <a:close/>
                <a:moveTo>
                  <a:pt x="72571" y="158750"/>
                </a:moveTo>
                <a:lnTo>
                  <a:pt x="72571" y="95250"/>
                </a:lnTo>
                <a:lnTo>
                  <a:pt x="145143" y="95250"/>
                </a:lnTo>
                <a:lnTo>
                  <a:pt x="145143" y="158750"/>
                </a:lnTo>
                <a:lnTo>
                  <a:pt x="72571" y="158750"/>
                </a:lnTo>
                <a:close/>
                <a:moveTo>
                  <a:pt x="217714" y="158750"/>
                </a:moveTo>
                <a:lnTo>
                  <a:pt x="217714" y="95250"/>
                </a:lnTo>
                <a:lnTo>
                  <a:pt x="290286" y="95250"/>
                </a:lnTo>
                <a:lnTo>
                  <a:pt x="290286" y="158750"/>
                </a:lnTo>
                <a:lnTo>
                  <a:pt x="217714" y="158750"/>
                </a:lnTo>
                <a:close/>
                <a:moveTo>
                  <a:pt x="72571" y="31750"/>
                </a:moveTo>
                <a:cubicBezTo>
                  <a:pt x="32544" y="31750"/>
                  <a:pt x="0" y="60226"/>
                  <a:pt x="0" y="95250"/>
                </a:cubicBezTo>
                <a:lnTo>
                  <a:pt x="0" y="412750"/>
                </a:lnTo>
                <a:cubicBezTo>
                  <a:pt x="0" y="447774"/>
                  <a:pt x="32544" y="476250"/>
                  <a:pt x="72571" y="476250"/>
                </a:cubicBezTo>
                <a:lnTo>
                  <a:pt x="435429" y="476250"/>
                </a:lnTo>
                <a:cubicBezTo>
                  <a:pt x="475456" y="476250"/>
                  <a:pt x="508000" y="447774"/>
                  <a:pt x="508000" y="412750"/>
                </a:cubicBezTo>
                <a:lnTo>
                  <a:pt x="508000" y="95250"/>
                </a:lnTo>
                <a:cubicBezTo>
                  <a:pt x="508000" y="60226"/>
                  <a:pt x="475456" y="31750"/>
                  <a:pt x="435429" y="31750"/>
                </a:cubicBezTo>
                <a:lnTo>
                  <a:pt x="72571" y="31750"/>
                </a:ln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28" name="Text 26"/>
          <p:cNvSpPr/>
          <p:nvPr/>
        </p:nvSpPr>
        <p:spPr>
          <a:xfrm>
            <a:off x="5588000" y="7467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Correlation Heatmap]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61000" y="4953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 — The "Secret Sauce"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4699000" cy="1905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7685" y="27156"/>
                </a:moveTo>
                <a:lnTo>
                  <a:pt x="339178" y="131544"/>
                </a:lnTo>
                <a:cubicBezTo>
                  <a:pt x="356279" y="151061"/>
                  <a:pt x="356279" y="182314"/>
                  <a:pt x="339178" y="201831"/>
                </a:cubicBezTo>
                <a:lnTo>
                  <a:pt x="242623" y="311775"/>
                </a:lnTo>
                <a:cubicBezTo>
                  <a:pt x="236881" y="318304"/>
                  <a:pt x="227498" y="318373"/>
                  <a:pt x="221694" y="311914"/>
                </a:cubicBezTo>
                <a:cubicBezTo>
                  <a:pt x="215891" y="305455"/>
                  <a:pt x="215829" y="294898"/>
                  <a:pt x="221571" y="288369"/>
                </a:cubicBezTo>
                <a:lnTo>
                  <a:pt x="318126" y="178356"/>
                </a:lnTo>
                <a:cubicBezTo>
                  <a:pt x="323806" y="171896"/>
                  <a:pt x="323806" y="161409"/>
                  <a:pt x="318126" y="154950"/>
                </a:cubicBezTo>
                <a:lnTo>
                  <a:pt x="226572" y="50631"/>
                </a:lnTo>
                <a:cubicBezTo>
                  <a:pt x="220830" y="44103"/>
                  <a:pt x="220892" y="33546"/>
                  <a:pt x="226695" y="27087"/>
                </a:cubicBezTo>
                <a:cubicBezTo>
                  <a:pt x="232498" y="20628"/>
                  <a:pt x="241882" y="20697"/>
                  <a:pt x="247624" y="27226"/>
                </a:cubicBezTo>
                <a:close/>
                <a:moveTo>
                  <a:pt x="19817" y="159395"/>
                </a:moveTo>
                <a:lnTo>
                  <a:pt x="19817" y="66675"/>
                </a:lnTo>
                <a:cubicBezTo>
                  <a:pt x="19817" y="42158"/>
                  <a:pt x="37536" y="22225"/>
                  <a:pt x="59328" y="22225"/>
                </a:cubicBezTo>
                <a:lnTo>
                  <a:pt x="141746" y="22225"/>
                </a:lnTo>
                <a:cubicBezTo>
                  <a:pt x="152241" y="22225"/>
                  <a:pt x="162304" y="26878"/>
                  <a:pt x="169713" y="35213"/>
                </a:cubicBezTo>
                <a:lnTo>
                  <a:pt x="258613" y="135225"/>
                </a:lnTo>
                <a:cubicBezTo>
                  <a:pt x="274047" y="152589"/>
                  <a:pt x="274047" y="180717"/>
                  <a:pt x="258613" y="198080"/>
                </a:cubicBezTo>
                <a:lnTo>
                  <a:pt x="176195" y="290800"/>
                </a:lnTo>
                <a:cubicBezTo>
                  <a:pt x="160761" y="308164"/>
                  <a:pt x="135758" y="308164"/>
                  <a:pt x="120324" y="290800"/>
                </a:cubicBezTo>
                <a:lnTo>
                  <a:pt x="31424" y="190788"/>
                </a:lnTo>
                <a:cubicBezTo>
                  <a:pt x="24015" y="182453"/>
                  <a:pt x="19879" y="171133"/>
                  <a:pt x="19879" y="159325"/>
                </a:cubicBezTo>
                <a:close/>
                <a:moveTo>
                  <a:pt x="108717" y="100013"/>
                </a:moveTo>
                <a:cubicBezTo>
                  <a:pt x="108717" y="87746"/>
                  <a:pt x="99865" y="77788"/>
                  <a:pt x="88962" y="77788"/>
                </a:cubicBezTo>
                <a:cubicBezTo>
                  <a:pt x="78058" y="77788"/>
                  <a:pt x="69206" y="87746"/>
                  <a:pt x="69206" y="100013"/>
                </a:cubicBezTo>
                <a:cubicBezTo>
                  <a:pt x="69206" y="112279"/>
                  <a:pt x="78058" y="122238"/>
                  <a:pt x="88962" y="122238"/>
                </a:cubicBezTo>
                <a:cubicBezTo>
                  <a:pt x="99865" y="122238"/>
                  <a:pt x="108717" y="112279"/>
                  <a:pt x="108717" y="100013"/>
                </a:cubicBez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17526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Encoding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6000" y="22225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LabelEncoder to transform categorical variables into numeric representations.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0" y="1587500"/>
            <a:ext cx="4699000" cy="1524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9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94" y="306774"/>
                </a:moveTo>
                <a:cubicBezTo>
                  <a:pt x="4366" y="321915"/>
                  <a:pt x="19685" y="333375"/>
                  <a:pt x="38100" y="333375"/>
                </a:cubicBezTo>
                <a:lnTo>
                  <a:pt x="317500" y="333375"/>
                </a:lnTo>
                <a:cubicBezTo>
                  <a:pt x="338534" y="333375"/>
                  <a:pt x="355600" y="318443"/>
                  <a:pt x="355600" y="300038"/>
                </a:cubicBezTo>
                <a:lnTo>
                  <a:pt x="355600" y="233363"/>
                </a:lnTo>
                <a:cubicBezTo>
                  <a:pt x="355600" y="214957"/>
                  <a:pt x="338534" y="200025"/>
                  <a:pt x="317500" y="200025"/>
                </a:cubicBezTo>
                <a:lnTo>
                  <a:pt x="279400" y="200025"/>
                </a:lnTo>
                <a:lnTo>
                  <a:pt x="279400" y="250031"/>
                </a:lnTo>
                <a:cubicBezTo>
                  <a:pt x="279400" y="259269"/>
                  <a:pt x="270907" y="266700"/>
                  <a:pt x="260350" y="266700"/>
                </a:cubicBezTo>
                <a:cubicBezTo>
                  <a:pt x="249793" y="266700"/>
                  <a:pt x="241300" y="259269"/>
                  <a:pt x="241300" y="250031"/>
                </a:cubicBezTo>
                <a:lnTo>
                  <a:pt x="241300" y="200025"/>
                </a:lnTo>
                <a:lnTo>
                  <a:pt x="190500" y="200025"/>
                </a:lnTo>
                <a:lnTo>
                  <a:pt x="190500" y="250031"/>
                </a:lnTo>
                <a:cubicBezTo>
                  <a:pt x="190500" y="259269"/>
                  <a:pt x="182007" y="266700"/>
                  <a:pt x="171450" y="266700"/>
                </a:cubicBezTo>
                <a:cubicBezTo>
                  <a:pt x="160893" y="266700"/>
                  <a:pt x="152400" y="259269"/>
                  <a:pt x="152400" y="250031"/>
                </a:cubicBezTo>
                <a:lnTo>
                  <a:pt x="152400" y="200025"/>
                </a:lnTo>
                <a:lnTo>
                  <a:pt x="95250" y="200025"/>
                </a:lnTo>
                <a:cubicBezTo>
                  <a:pt x="84693" y="200025"/>
                  <a:pt x="76200" y="192594"/>
                  <a:pt x="76200" y="183356"/>
                </a:cubicBezTo>
                <a:cubicBezTo>
                  <a:pt x="76200" y="174119"/>
                  <a:pt x="84693" y="166688"/>
                  <a:pt x="95250" y="166688"/>
                </a:cubicBezTo>
                <a:lnTo>
                  <a:pt x="152400" y="166688"/>
                </a:lnTo>
                <a:lnTo>
                  <a:pt x="152400" y="122238"/>
                </a:lnTo>
                <a:lnTo>
                  <a:pt x="95250" y="122238"/>
                </a:lnTo>
                <a:cubicBezTo>
                  <a:pt x="84693" y="122238"/>
                  <a:pt x="76200" y="114806"/>
                  <a:pt x="76200" y="105569"/>
                </a:cubicBezTo>
                <a:cubicBezTo>
                  <a:pt x="76200" y="96331"/>
                  <a:pt x="84693" y="88900"/>
                  <a:pt x="95250" y="88900"/>
                </a:cubicBezTo>
                <a:lnTo>
                  <a:pt x="152400" y="88900"/>
                </a:lnTo>
                <a:lnTo>
                  <a:pt x="152400" y="55563"/>
                </a:lnTo>
                <a:cubicBezTo>
                  <a:pt x="152400" y="37157"/>
                  <a:pt x="135334" y="22225"/>
                  <a:pt x="114300" y="22225"/>
                </a:cubicBezTo>
                <a:lnTo>
                  <a:pt x="38100" y="22225"/>
                </a:lnTo>
                <a:cubicBezTo>
                  <a:pt x="17066" y="22225"/>
                  <a:pt x="0" y="37157"/>
                  <a:pt x="0" y="55563"/>
                </a:cubicBezTo>
                <a:lnTo>
                  <a:pt x="0" y="300038"/>
                </a:lnTo>
                <a:cubicBezTo>
                  <a:pt x="0" y="302329"/>
                  <a:pt x="238" y="304621"/>
                  <a:pt x="794" y="306774"/>
                </a:cubicBezTo>
                <a:close/>
              </a:path>
            </a:pathLst>
          </a:custGeom>
          <a:solidFill>
            <a:srgbClr val="1E4D52"/>
          </a:solidFill>
          <a:ln/>
        </p:spPr>
      </p:sp>
      <p:sp>
        <p:nvSpPr>
          <p:cNvPr id="16" name="Text 14"/>
          <p:cNvSpPr/>
          <p:nvPr/>
        </p:nvSpPr>
        <p:spPr>
          <a:xfrm>
            <a:off x="6451600" y="17526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Scaling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69000" y="2222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StandardScaler to normalize feature distributions for algorithmic stability.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668000" y="1587500"/>
            <a:ext cx="4826000" cy="36830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19" name="Text 17"/>
          <p:cNvSpPr/>
          <p:nvPr/>
        </p:nvSpPr>
        <p:spPr>
          <a:xfrm>
            <a:off x="10922000" y="17780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Features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922000" y="2209800"/>
            <a:ext cx="635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1" name="Text 19"/>
          <p:cNvSpPr/>
          <p:nvPr/>
        </p:nvSpPr>
        <p:spPr>
          <a:xfrm>
            <a:off x="10922000" y="24130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 Category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Junior → Mid → Senior → Veteran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22000" y="34036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 per Year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Productivity indicator metric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22000" y="43942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Groups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lifecycle segmentation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3683000"/>
            <a:ext cx="9652000" cy="1397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000" y="3835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3500" y="38894"/>
                </a:moveTo>
                <a:cubicBezTo>
                  <a:pt x="74014" y="38894"/>
                  <a:pt x="82550" y="46363"/>
                  <a:pt x="82550" y="55563"/>
                </a:cubicBezTo>
                <a:cubicBezTo>
                  <a:pt x="82550" y="64762"/>
                  <a:pt x="74014" y="72231"/>
                  <a:pt x="63500" y="72231"/>
                </a:cubicBezTo>
                <a:cubicBezTo>
                  <a:pt x="52986" y="72231"/>
                  <a:pt x="44450" y="64762"/>
                  <a:pt x="44450" y="55563"/>
                </a:cubicBezTo>
                <a:cubicBezTo>
                  <a:pt x="44450" y="46363"/>
                  <a:pt x="52986" y="38894"/>
                  <a:pt x="63500" y="38894"/>
                </a:cubicBezTo>
                <a:close/>
                <a:moveTo>
                  <a:pt x="89218" y="106402"/>
                </a:moveTo>
                <a:cubicBezTo>
                  <a:pt x="111443" y="97790"/>
                  <a:pt x="127000" y="78274"/>
                  <a:pt x="127000" y="55562"/>
                </a:cubicBezTo>
                <a:cubicBezTo>
                  <a:pt x="127000" y="24864"/>
                  <a:pt x="98584" y="0"/>
                  <a:pt x="63500" y="0"/>
                </a:cubicBezTo>
                <a:cubicBezTo>
                  <a:pt x="28416" y="0"/>
                  <a:pt x="0" y="24864"/>
                  <a:pt x="0" y="55563"/>
                </a:cubicBezTo>
                <a:cubicBezTo>
                  <a:pt x="0" y="78343"/>
                  <a:pt x="15637" y="97929"/>
                  <a:pt x="38100" y="106472"/>
                </a:cubicBezTo>
                <a:lnTo>
                  <a:pt x="38100" y="249059"/>
                </a:lnTo>
                <a:cubicBezTo>
                  <a:pt x="15637" y="257671"/>
                  <a:pt x="0" y="277257"/>
                  <a:pt x="0" y="300038"/>
                </a:cubicBezTo>
                <a:cubicBezTo>
                  <a:pt x="0" y="330736"/>
                  <a:pt x="28416" y="355600"/>
                  <a:pt x="63500" y="355600"/>
                </a:cubicBezTo>
                <a:cubicBezTo>
                  <a:pt x="98584" y="355600"/>
                  <a:pt x="127000" y="330736"/>
                  <a:pt x="127000" y="300038"/>
                </a:cubicBezTo>
                <a:cubicBezTo>
                  <a:pt x="127000" y="277257"/>
                  <a:pt x="111363" y="257671"/>
                  <a:pt x="88900" y="249128"/>
                </a:cubicBezTo>
                <a:lnTo>
                  <a:pt x="88900" y="188982"/>
                </a:lnTo>
                <a:cubicBezTo>
                  <a:pt x="110093" y="202942"/>
                  <a:pt x="136525" y="211207"/>
                  <a:pt x="165100" y="211207"/>
                </a:cubicBezTo>
                <a:lnTo>
                  <a:pt x="233918" y="211207"/>
                </a:lnTo>
                <a:cubicBezTo>
                  <a:pt x="243681" y="230862"/>
                  <a:pt x="266065" y="244544"/>
                  <a:pt x="292100" y="244544"/>
                </a:cubicBezTo>
                <a:cubicBezTo>
                  <a:pt x="327184" y="244544"/>
                  <a:pt x="355600" y="219680"/>
                  <a:pt x="355600" y="188982"/>
                </a:cubicBezTo>
                <a:cubicBezTo>
                  <a:pt x="355600" y="158284"/>
                  <a:pt x="327184" y="133419"/>
                  <a:pt x="292100" y="133419"/>
                </a:cubicBezTo>
                <a:cubicBezTo>
                  <a:pt x="266065" y="133419"/>
                  <a:pt x="243681" y="147102"/>
                  <a:pt x="233918" y="166757"/>
                </a:cubicBezTo>
                <a:lnTo>
                  <a:pt x="165100" y="166688"/>
                </a:lnTo>
                <a:cubicBezTo>
                  <a:pt x="125492" y="166688"/>
                  <a:pt x="92869" y="140226"/>
                  <a:pt x="89218" y="106402"/>
                </a:cubicBezTo>
                <a:close/>
                <a:moveTo>
                  <a:pt x="63500" y="283369"/>
                </a:moveTo>
                <a:cubicBezTo>
                  <a:pt x="74014" y="283369"/>
                  <a:pt x="82550" y="290838"/>
                  <a:pt x="82550" y="300038"/>
                </a:cubicBezTo>
                <a:cubicBezTo>
                  <a:pt x="82550" y="309237"/>
                  <a:pt x="74014" y="316706"/>
                  <a:pt x="63500" y="316706"/>
                </a:cubicBezTo>
                <a:cubicBezTo>
                  <a:pt x="52986" y="316706"/>
                  <a:pt x="44450" y="309237"/>
                  <a:pt x="44450" y="300038"/>
                </a:cubicBezTo>
                <a:cubicBezTo>
                  <a:pt x="44450" y="290838"/>
                  <a:pt x="52986" y="283369"/>
                  <a:pt x="63500" y="283369"/>
                </a:cubicBezTo>
                <a:close/>
                <a:moveTo>
                  <a:pt x="273050" y="188913"/>
                </a:moveTo>
                <a:cubicBezTo>
                  <a:pt x="273050" y="179713"/>
                  <a:pt x="281586" y="172244"/>
                  <a:pt x="292100" y="172244"/>
                </a:cubicBezTo>
                <a:cubicBezTo>
                  <a:pt x="302614" y="172244"/>
                  <a:pt x="311150" y="179713"/>
                  <a:pt x="311150" y="188913"/>
                </a:cubicBezTo>
                <a:cubicBezTo>
                  <a:pt x="311150" y="198112"/>
                  <a:pt x="302614" y="205581"/>
                  <a:pt x="292100" y="205581"/>
                </a:cubicBezTo>
                <a:cubicBezTo>
                  <a:pt x="281586" y="205581"/>
                  <a:pt x="273050" y="198112"/>
                  <a:pt x="273050" y="188913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" y="381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Interaction Features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6000" y="4254500"/>
            <a:ext cx="444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 × Age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maturity proxy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88000" y="4254500"/>
            <a:ext cx="444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 × Experience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Portfolio depth indicator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207000"/>
            <a:ext cx="14732000" cy="3048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533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 Pipeline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70000" y="5905500"/>
            <a:ext cx="228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70000" y="5905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Features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original columns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83000" y="6324600"/>
            <a:ext cx="635000" cy="0"/>
          </a:xfrm>
          <a:prstGeom prst="straightConnector1">
            <a:avLst/>
          </a:prstGeom>
          <a:noFill/>
          <a:ln w="25400">
            <a:solidFill>
              <a:srgbClr val="1E4D52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4445000" y="5905500"/>
            <a:ext cx="228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45000" y="5905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Encoding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LabelEncoder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58000" y="6324600"/>
            <a:ext cx="635000" cy="0"/>
          </a:xfrm>
          <a:prstGeom prst="straightConnector1">
            <a:avLst/>
          </a:prstGeom>
          <a:noFill/>
          <a:ln w="25400">
            <a:solidFill>
              <a:srgbClr val="1E4D52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7620000" y="5905500"/>
            <a:ext cx="228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0000" y="5905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Creation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+ Interaction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033000" y="6324600"/>
            <a:ext cx="635000" cy="0"/>
          </a:xfrm>
          <a:prstGeom prst="straightConnector1">
            <a:avLst/>
          </a:prstGeom>
          <a:noFill/>
          <a:ln w="25400">
            <a:solidFill>
              <a:srgbClr val="1E4D52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10795000" y="5905500"/>
            <a:ext cx="228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95000" y="5905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Scaling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StandardScaler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3208000" y="6324600"/>
            <a:ext cx="635000" cy="0"/>
          </a:xfrm>
          <a:prstGeom prst="straightConnector1">
            <a:avLst/>
          </a:prstGeom>
          <a:noFill/>
          <a:ln w="25400">
            <a:solidFill>
              <a:srgbClr val="1E4D52"/>
            </a:solidFill>
            <a:prstDash val="solid"/>
            <a:headEnd type="none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13970000" y="6096000"/>
            <a:ext cx="1270000" cy="5080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44" name="Text 42"/>
          <p:cNvSpPr/>
          <p:nvPr/>
        </p:nvSpPr>
        <p:spPr>
          <a:xfrm>
            <a:off x="13970000" y="6096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16000" y="7048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step systematically transforms raw data into model-ready features,</a:t>
            </a: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maximizing predictive signal while maintaining algorithmic stability.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25000" y="4953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Methodology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3556000" cy="406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5875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TRAIN-TEST SPLIT: 80% / 20%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21844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models trained and evaluated with systematic comparison.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794000"/>
            <a:ext cx="4699000" cy="2540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2946400"/>
            <a:ext cx="88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52500" y="34544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2500" y="3886200"/>
            <a:ext cx="1016000" cy="2794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38862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2500" y="4318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baseline model for comparison against more complex approaches.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2794000"/>
            <a:ext cx="4699000" cy="2540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20" name="Text 18"/>
          <p:cNvSpPr/>
          <p:nvPr/>
        </p:nvSpPr>
        <p:spPr>
          <a:xfrm>
            <a:off x="5905500" y="2946400"/>
            <a:ext cx="88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05500" y="34544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905500" y="3886200"/>
            <a:ext cx="1143000" cy="279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23" name="Text 21"/>
          <p:cNvSpPr/>
          <p:nvPr/>
        </p:nvSpPr>
        <p:spPr>
          <a:xfrm>
            <a:off x="5905500" y="38862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05500" y="4318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of decision trees using bagging to reduce variance and improve accuracy.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2794000"/>
            <a:ext cx="4826000" cy="25400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26" name="Text 24"/>
          <p:cNvSpPr/>
          <p:nvPr/>
        </p:nvSpPr>
        <p:spPr>
          <a:xfrm>
            <a:off x="10858500" y="2946400"/>
            <a:ext cx="88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0858500" y="34544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Regressor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858500" y="3886200"/>
            <a:ext cx="1143000" cy="279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9" name="Text 27"/>
          <p:cNvSpPr/>
          <p:nvPr/>
        </p:nvSpPr>
        <p:spPr>
          <a:xfrm>
            <a:off x="10858500" y="38862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858500" y="43180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 with regularization for optimized performance.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5651500"/>
            <a:ext cx="14732000" cy="2667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000" y="584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3" name="Text 31"/>
          <p:cNvSpPr/>
          <p:nvPr/>
        </p:nvSpPr>
        <p:spPr>
          <a:xfrm>
            <a:off x="1498600" y="5816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Hyperparameter Tuning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16000" y="6350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Conducted using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GridSearchCV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5-fold cross-validation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find optimal parameters for each model. Systematic comparison ensures fair evaluation across all algorithms.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905000" y="7429500"/>
            <a:ext cx="2540000" cy="44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05000" y="7429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Parameter Grid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72000" y="7607300"/>
            <a:ext cx="762000" cy="0"/>
          </a:xfrm>
          <a:prstGeom prst="straightConnector1">
            <a:avLst/>
          </a:prstGeom>
          <a:noFill/>
          <a:ln w="25400">
            <a:solidFill>
              <a:srgbClr val="1E4D52"/>
            </a:solidFill>
            <a:prstDash val="solid"/>
            <a:headEnd type="none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5461000" y="7429500"/>
            <a:ext cx="2540000" cy="44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1000" y="7429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5-Fold Cross-Val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28000" y="7607300"/>
            <a:ext cx="762000" cy="0"/>
          </a:xfrm>
          <a:prstGeom prst="straightConnector1">
            <a:avLst/>
          </a:prstGeom>
          <a:noFill/>
          <a:ln w="25400">
            <a:solidFill>
              <a:srgbClr val="1E4D52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9017000" y="7429500"/>
            <a:ext cx="2540000" cy="44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17000" y="7429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Search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684000" y="7607300"/>
            <a:ext cx="762000" cy="0"/>
          </a:xfrm>
          <a:prstGeom prst="straightConnector1">
            <a:avLst/>
          </a:prstGeom>
          <a:noFill/>
          <a:ln w="25400">
            <a:solidFill>
              <a:srgbClr val="1E4D52"/>
            </a:solidFill>
            <a:prstDash val="solid"/>
            <a:headEnd type="none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12573000" y="7429500"/>
            <a:ext cx="2540000" cy="4445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5" name="Text 43"/>
          <p:cNvSpPr/>
          <p:nvPr/>
        </p:nvSpPr>
        <p:spPr>
          <a:xfrm>
            <a:off x="12573000" y="7429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Parameters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25000" y="4953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Evaluation Metrics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986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Multi-metric approach ensures comprehensive model assessment.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2159000"/>
            <a:ext cx="4699000" cy="1524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286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16000" y="27940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Absolute Error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6000" y="3111500"/>
            <a:ext cx="419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magnitude of errors, robust to outliers.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715000" y="2159000"/>
            <a:ext cx="4699000" cy="1524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6" name="Text 14"/>
          <p:cNvSpPr/>
          <p:nvPr/>
        </p:nvSpPr>
        <p:spPr>
          <a:xfrm>
            <a:off x="5969000" y="2286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969000" y="27940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Squared Error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69000" y="3111500"/>
            <a:ext cx="419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Penalizes larger errors more heavily.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668000" y="2159000"/>
            <a:ext cx="4826000" cy="1778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2286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922000" y="27940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Squared Error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22000" y="31115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in original salary units, directly interpretable.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2000" y="4000500"/>
            <a:ext cx="7239000" cy="18415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4127500"/>
            <a:ext cx="1714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016000" y="46355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Coefficient of Determination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6000" y="4953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Proportion of variance explained (1.0 = perfect prediction). Primary comparison metric.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55000" y="4000500"/>
            <a:ext cx="7239000" cy="18415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28" name="Text 26"/>
          <p:cNvSpPr/>
          <p:nvPr/>
        </p:nvSpPr>
        <p:spPr>
          <a:xfrm>
            <a:off x="8509000" y="41275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MAPE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509000" y="46355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Absolute Percentage Error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9000" y="4953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as percentage of actual values. Intuitive for stakeholder communication.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5905500"/>
            <a:ext cx="14732000" cy="23495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6070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Formulas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31"/>
              <p:cNvSpPr/>
              <p:nvPr/>
            </p:nvSpPr>
            <p:spPr>
              <a:xfrm>
                <a:off x="1016000" y="6540500"/>
                <a:ext cx="6985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1</m:t>
                      </m:r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 lang="en-US" sz="900" dirty="0">
                                      <a:solidFill>
                                        <a:srgbClr val="1E2328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</m:ctrlPr>
                                </m:limUppPr>
                                <m:e>
                                  <m:r>
                                    <a:rPr lang="en-US" sz="900" i="1" dirty="0">
                                      <a:solidFill>
                                        <a:srgbClr val="1E2328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y</m:t>
                                  </m:r>
                                </m:e>
                                <m:lim>
                                  <m:r>
                                    <a:rPr lang="en-US" sz="900" dirty="0">
                                      <a:solidFill>
                                        <a:srgbClr val="1E2328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^</m:t>
                                  </m:r>
                                </m:lim>
                              </m:limUpp>
                            </m:e>
                            <m:sub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i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y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ˉ</m:t>
                              </m:r>
                            </m:lim>
                          </m:limUpp>
                          <m:sSup>
                            <m:sSup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3" name="Text 31"/>
              <p:cNvSpPr/>
              <p:nvPr/>
            </p:nvSpPr>
            <p:spPr>
              <a:xfrm>
                <a:off x="1016000" y="6540500"/>
                <a:ext cx="6985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dirty="0">
                    <a:solidFill>
                      <a:srgbClr val="1E2328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R^2 = 1 - \frac{\sum(y_i - \hat{y}_i)^2}{\sum(y_i - \bar{y})^2} \)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32"/>
              <p:cNvSpPr/>
              <p:nvPr/>
            </p:nvSpPr>
            <p:spPr>
              <a:xfrm>
                <a:off x="1016000" y="7112000"/>
                <a:ext cx="6985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RMSE</m:t>
                      </m:r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ad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n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SupPr>
                            <m:e>
                              <m: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∑</m:t>
                              </m:r>
                            </m:e>
                            <m:sub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i</m:t>
                              </m:r>
                              <m: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=</m:t>
                              </m:r>
                              <m: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n</m:t>
                              </m:r>
                            </m:sup>
                          </m:sSubSup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 lang="en-US" sz="900" dirty="0">
                                      <a:solidFill>
                                        <a:srgbClr val="1E2328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</m:ctrlPr>
                                </m:limUppPr>
                                <m:e>
                                  <m:r>
                                    <a:rPr lang="en-US" sz="900" i="1" dirty="0">
                                      <a:solidFill>
                                        <a:srgbClr val="1E2328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y</m:t>
                                  </m:r>
                                </m:e>
                                <m:lim>
                                  <m:r>
                                    <a:rPr lang="en-US" sz="900" dirty="0">
                                      <a:solidFill>
                                        <a:srgbClr val="1E2328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^</m:t>
                                  </m:r>
                                </m:lim>
                              </m:limUpp>
                            </m:e>
                            <m:sub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i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4" name="Text 32"/>
              <p:cNvSpPr/>
              <p:nvPr/>
            </p:nvSpPr>
            <p:spPr>
              <a:xfrm>
                <a:off x="1016000" y="7112000"/>
                <a:ext cx="6985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dirty="0">
                    <a:solidFill>
                      <a:srgbClr val="1E2328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\text{RMSE} = \sqrt{\frac{1}{n}\sum_{i=1}^{n}(y_i - \hat{y}_i)^2} \)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/>
              <p:cNvSpPr/>
              <p:nvPr/>
            </p:nvSpPr>
            <p:spPr>
              <a:xfrm>
                <a:off x="8382000" y="6540500"/>
                <a:ext cx="6985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MAE</m:t>
                      </m:r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300" i="1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den>
                      </m:f>
                      <m:sSubSup>
                        <m:sSubSupPr>
                          <m:ctrlP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300" i="1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sup>
                      </m:sSubSup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−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y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300" i="1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5" name="Text 33"/>
              <p:cNvSpPr/>
              <p:nvPr/>
            </p:nvSpPr>
            <p:spPr>
              <a:xfrm>
                <a:off x="8382000" y="6540500"/>
                <a:ext cx="6985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dirty="0">
                    <a:solidFill>
                      <a:srgbClr val="1E2328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\text{MAE} = \frac{1}{n}\sum_{i=1}^{n}|y_i - \hat{y}_i| \)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34"/>
              <p:cNvSpPr/>
              <p:nvPr/>
            </p:nvSpPr>
            <p:spPr>
              <a:xfrm>
                <a:off x="8382000" y="7112000"/>
                <a:ext cx="6985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MAPE</m:t>
                      </m:r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100</m:t>
                          </m:r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%</m:t>
                          </m:r>
                        </m:num>
                        <m:den>
                          <m:r>
                            <a:rPr lang="en-US" sz="1300" i="1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den>
                      </m:f>
                      <m:sSubSup>
                        <m:sSubSupPr>
                          <m:ctrlP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=</m:t>
                          </m:r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</m:t>
                          </m:r>
                        </m:sub>
                        <m:sup>
                          <m:r>
                            <a:rPr lang="en-US" sz="1300" i="1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sup>
                      </m:sSubSup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300" dirty="0">
                              <a:solidFill>
                                <a:srgbClr val="1E2328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 lang="en-US" sz="900" dirty="0">
                                      <a:solidFill>
                                        <a:srgbClr val="1E2328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</m:ctrlPr>
                                </m:limUppPr>
                                <m:e>
                                  <m:r>
                                    <a:rPr lang="en-US" sz="900" i="1" dirty="0">
                                      <a:solidFill>
                                        <a:srgbClr val="1E2328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y</m:t>
                                  </m:r>
                                </m:e>
                                <m:lim>
                                  <m:r>
                                    <a:rPr lang="en-US" sz="900" dirty="0">
                                      <a:solidFill>
                                        <a:srgbClr val="1E2328"/>
                                      </a:solidFill>
                                      <a:latin typeface="Quattrocento Sans" pitchFamily="34" charset="0"/>
                                      <a:ea typeface="Quattrocento Sans" pitchFamily="34" charset="-122"/>
                                      <a:cs typeface="Quattrocento Sans" pitchFamily="34" charset="-120"/>
                                    </a:rPr>
                                    <m:t>^</m:t>
                                  </m:r>
                                </m:lim>
                              </m:limUpp>
                            </m:e>
                            <m:sub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900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900" i="1" dirty="0">
                                  <a:solidFill>
                                    <a:srgbClr val="1E2328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sz="1800" dirty="0">
                          <a:solidFill>
                            <a:srgbClr val="1E232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∣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6" name="Text 34"/>
              <p:cNvSpPr/>
              <p:nvPr/>
            </p:nvSpPr>
            <p:spPr>
              <a:xfrm>
                <a:off x="8382000" y="7112000"/>
                <a:ext cx="6985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dirty="0">
                    <a:solidFill>
                      <a:srgbClr val="1E2328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\text{MAPE} = \frac{100\%}{n}\sum_{i=1}^{n}\left|\frac{y_i - \hat{y}_i}{y_i}\right| \)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/>
              <p:cNvSpPr/>
              <p:nvPr/>
            </p:nvSpPr>
            <p:spPr>
              <a:xfrm>
                <a:off x="1016000" y="7683500"/>
                <a:ext cx="142240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Where  </a:t>
                </a:r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dirty="0">
                              <a:solidFill>
                                <a:srgbClr val="6B7B8D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6B7B8D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6B7B8D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actual value,  </a:t>
                </a:r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dirty="0">
                              <a:solidFill>
                                <a:srgbClr val="6B7B8D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000" dirty="0">
                                  <a:solidFill>
                                    <a:srgbClr val="6B7B8D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000" i="1" dirty="0">
                                  <a:solidFill>
                                    <a:srgbClr val="6B7B8D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y</m:t>
                              </m:r>
                            </m:e>
                            <m:lim>
                              <m:r>
                                <a:rPr lang="en-US" sz="1000" dirty="0">
                                  <a:solidFill>
                                    <a:srgbClr val="6B7B8D"/>
                                  </a:solidFill>
                                  <a:latin typeface="Quattrocento Sans" pitchFamily="34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000" i="1" dirty="0">
                              <a:solidFill>
                                <a:srgbClr val="6B7B8D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predicted value,  </a:t>
                </a:r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400" dirty="0">
                              <a:solidFill>
                                <a:srgbClr val="6B7B8D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limUppPr>
                        <m:e>
                          <m:r>
                            <a:rPr lang="en-US" sz="1400" i="1" dirty="0">
                              <a:solidFill>
                                <a:srgbClr val="6B7B8D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y</m:t>
                          </m:r>
                        </m:e>
                        <m:lim>
                          <m:r>
                            <a:rPr lang="en-US" sz="1400" dirty="0">
                              <a:solidFill>
                                <a:srgbClr val="6B7B8D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ˉ</m:t>
                          </m:r>
                        </m:lim>
                      </m:limUpp>
                    </m:oMath>
                  </m:oMathPara>
                </a14:m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mean actual value,  </a:t>
                </a:r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6B7B8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n</m:t>
                      </m:r>
                    </m:oMath>
                  </m:oMathPara>
                </a14:m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sample size</a:t>
                </a:r>
                <a:endParaRPr lang="en-US" sz="1400" dirty="0"/>
              </a:p>
            </p:txBody>
          </p:sp>
        </mc:Choice>
        <mc:Fallback xmlns="">
          <p:sp>
            <p:nvSpPr>
              <p:cNvPr id="37" name="Text 35"/>
              <p:cNvSpPr/>
              <p:nvPr/>
            </p:nvSpPr>
            <p:spPr>
              <a:xfrm>
                <a:off x="1016000" y="7683500"/>
                <a:ext cx="142240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Where  </a:t>
                </a:r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y_i \)</a:t>
                </a:r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actual value,  </a:t>
                </a:r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\hat{y}_i \)</a:t>
                </a:r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predicted value,  </a:t>
                </a:r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\bar{y} \)</a:t>
                </a:r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mean actual value,  </a:t>
                </a:r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n \)</a:t>
                </a:r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rgbClr val="6B7B8D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sample size</a:t>
                </a:r>
                <a:endParaRPr lang="en-US" sz="1400" dirty="0"/>
              </a:p>
            </p:txBody>
          </p:sp>
        </mc:Fallback>
      </mc:AlternateContent>
      <p:sp>
        <p:nvSpPr>
          <p:cNvPr id="38" name="Text 3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25000" y="4953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Model Comparison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6858000" cy="34290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676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6000" y="2082800"/>
            <a:ext cx="635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2260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models showed slight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overfitting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tendency — high training R², lower test R².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31496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challenge with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datasets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(504 rows) limiting generalization.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40386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 significantly outperform the linear baseline approach.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4000" y="1524000"/>
            <a:ext cx="7620000" cy="1270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8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737600" y="171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7600" y="20574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Regressor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874000" y="2921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slightly outperformed Random Forest on test metrics, demonstrating the power of gradient boosting for this dataset.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143500"/>
            <a:ext cx="7366000" cy="330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5270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 Comparison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6000" y="5651500"/>
            <a:ext cx="6858000" cy="2603500"/>
          </a:xfrm>
          <a:prstGeom prst="rect">
            <a:avLst/>
          </a:prstGeom>
          <a:solidFill>
            <a:srgbClr val="FFFFFF"/>
          </a:solidFill>
          <a:ln w="12700"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40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31750"/>
                </a:moveTo>
                <a:cubicBezTo>
                  <a:pt x="49312" y="31750"/>
                  <a:pt x="63500" y="45938"/>
                  <a:pt x="63500" y="63500"/>
                </a:cubicBezTo>
                <a:lnTo>
                  <a:pt x="63500" y="396875"/>
                </a:lnTo>
                <a:cubicBezTo>
                  <a:pt x="63500" y="405606"/>
                  <a:pt x="70644" y="412750"/>
                  <a:pt x="79375" y="412750"/>
                </a:cubicBezTo>
                <a:lnTo>
                  <a:pt x="476250" y="412750"/>
                </a:lnTo>
                <a:cubicBezTo>
                  <a:pt x="493812" y="412750"/>
                  <a:pt x="508000" y="426938"/>
                  <a:pt x="508000" y="444500"/>
                </a:cubicBezTo>
                <a:cubicBezTo>
                  <a:pt x="508000" y="462062"/>
                  <a:pt x="493812" y="476250"/>
                  <a:pt x="476250" y="476250"/>
                </a:cubicBezTo>
                <a:lnTo>
                  <a:pt x="79375" y="476250"/>
                </a:lnTo>
                <a:cubicBezTo>
                  <a:pt x="35520" y="476250"/>
                  <a:pt x="0" y="440730"/>
                  <a:pt x="0" y="396875"/>
                </a:cubicBezTo>
                <a:lnTo>
                  <a:pt x="0" y="63500"/>
                </a:lnTo>
                <a:cubicBezTo>
                  <a:pt x="0" y="45938"/>
                  <a:pt x="14188" y="31750"/>
                  <a:pt x="31750" y="31750"/>
                </a:cubicBezTo>
                <a:close/>
                <a:moveTo>
                  <a:pt x="142875" y="222250"/>
                </a:moveTo>
                <a:cubicBezTo>
                  <a:pt x="160437" y="222250"/>
                  <a:pt x="174625" y="236438"/>
                  <a:pt x="174625" y="254000"/>
                </a:cubicBezTo>
                <a:lnTo>
                  <a:pt x="174625" y="317500"/>
                </a:lnTo>
                <a:cubicBezTo>
                  <a:pt x="174625" y="335062"/>
                  <a:pt x="160437" y="349250"/>
                  <a:pt x="142875" y="349250"/>
                </a:cubicBezTo>
                <a:cubicBezTo>
                  <a:pt x="125313" y="349250"/>
                  <a:pt x="111125" y="335062"/>
                  <a:pt x="111125" y="317500"/>
                </a:cubicBezTo>
                <a:lnTo>
                  <a:pt x="111125" y="254000"/>
                </a:lnTo>
                <a:cubicBezTo>
                  <a:pt x="111125" y="236438"/>
                  <a:pt x="125313" y="222250"/>
                  <a:pt x="142875" y="222250"/>
                </a:cubicBezTo>
                <a:close/>
                <a:moveTo>
                  <a:pt x="285750" y="158750"/>
                </a:moveTo>
                <a:lnTo>
                  <a:pt x="285750" y="317500"/>
                </a:lnTo>
                <a:cubicBezTo>
                  <a:pt x="285750" y="335062"/>
                  <a:pt x="271562" y="349250"/>
                  <a:pt x="254000" y="349250"/>
                </a:cubicBezTo>
                <a:cubicBezTo>
                  <a:pt x="236438" y="349250"/>
                  <a:pt x="222250" y="335062"/>
                  <a:pt x="222250" y="317500"/>
                </a:cubicBezTo>
                <a:lnTo>
                  <a:pt x="222250" y="158750"/>
                </a:lnTo>
                <a:cubicBezTo>
                  <a:pt x="222250" y="141188"/>
                  <a:pt x="236438" y="127000"/>
                  <a:pt x="254000" y="127000"/>
                </a:cubicBezTo>
                <a:cubicBezTo>
                  <a:pt x="271562" y="127000"/>
                  <a:pt x="285750" y="141188"/>
                  <a:pt x="285750" y="158750"/>
                </a:cubicBezTo>
                <a:close/>
                <a:moveTo>
                  <a:pt x="365125" y="190500"/>
                </a:moveTo>
                <a:cubicBezTo>
                  <a:pt x="382687" y="190500"/>
                  <a:pt x="396875" y="204688"/>
                  <a:pt x="396875" y="222250"/>
                </a:cubicBezTo>
                <a:lnTo>
                  <a:pt x="396875" y="317500"/>
                </a:lnTo>
                <a:cubicBezTo>
                  <a:pt x="396875" y="335062"/>
                  <a:pt x="382687" y="349250"/>
                  <a:pt x="365125" y="349250"/>
                </a:cubicBezTo>
                <a:cubicBezTo>
                  <a:pt x="347563" y="349250"/>
                  <a:pt x="333375" y="335062"/>
                  <a:pt x="333375" y="317500"/>
                </a:cubicBezTo>
                <a:lnTo>
                  <a:pt x="333375" y="222250"/>
                </a:lnTo>
                <a:cubicBezTo>
                  <a:pt x="333375" y="204688"/>
                  <a:pt x="347563" y="190500"/>
                  <a:pt x="365125" y="190500"/>
                </a:cubicBezTo>
                <a:close/>
                <a:moveTo>
                  <a:pt x="508000" y="95250"/>
                </a:moveTo>
                <a:lnTo>
                  <a:pt x="508000" y="317500"/>
                </a:lnTo>
                <a:cubicBezTo>
                  <a:pt x="508000" y="335062"/>
                  <a:pt x="493812" y="349250"/>
                  <a:pt x="476250" y="349250"/>
                </a:cubicBezTo>
                <a:cubicBezTo>
                  <a:pt x="458688" y="349250"/>
                  <a:pt x="444500" y="335062"/>
                  <a:pt x="444500" y="317500"/>
                </a:cubicBezTo>
                <a:lnTo>
                  <a:pt x="444500" y="95250"/>
                </a:lnTo>
                <a:cubicBezTo>
                  <a:pt x="444500" y="77688"/>
                  <a:pt x="458688" y="63500"/>
                  <a:pt x="476250" y="63500"/>
                </a:cubicBezTo>
                <a:cubicBezTo>
                  <a:pt x="493812" y="63500"/>
                  <a:pt x="508000" y="77688"/>
                  <a:pt x="508000" y="95250"/>
                </a:cubicBez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71755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R² Score Bar Chart]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82000" y="5143500"/>
            <a:ext cx="7112000" cy="3302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27" name="Text 25"/>
          <p:cNvSpPr/>
          <p:nvPr/>
        </p:nvSpPr>
        <p:spPr>
          <a:xfrm>
            <a:off x="8636000" y="5270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 Comparison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36000" y="5651500"/>
            <a:ext cx="6604000" cy="2603500"/>
          </a:xfrm>
          <a:prstGeom prst="rect">
            <a:avLst/>
          </a:prstGeom>
          <a:solidFill>
            <a:srgbClr val="FFFFFF"/>
          </a:solidFill>
          <a:ln w="12700"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5570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31750"/>
                </a:moveTo>
                <a:cubicBezTo>
                  <a:pt x="49312" y="31750"/>
                  <a:pt x="63500" y="45938"/>
                  <a:pt x="63500" y="63500"/>
                </a:cubicBezTo>
                <a:lnTo>
                  <a:pt x="63500" y="396875"/>
                </a:lnTo>
                <a:cubicBezTo>
                  <a:pt x="63500" y="405606"/>
                  <a:pt x="70644" y="412750"/>
                  <a:pt x="79375" y="412750"/>
                </a:cubicBezTo>
                <a:lnTo>
                  <a:pt x="476250" y="412750"/>
                </a:lnTo>
                <a:cubicBezTo>
                  <a:pt x="493812" y="412750"/>
                  <a:pt x="508000" y="426938"/>
                  <a:pt x="508000" y="444500"/>
                </a:cubicBezTo>
                <a:cubicBezTo>
                  <a:pt x="508000" y="462062"/>
                  <a:pt x="493812" y="476250"/>
                  <a:pt x="476250" y="476250"/>
                </a:cubicBezTo>
                <a:lnTo>
                  <a:pt x="79375" y="476250"/>
                </a:lnTo>
                <a:cubicBezTo>
                  <a:pt x="35520" y="476250"/>
                  <a:pt x="0" y="440730"/>
                  <a:pt x="0" y="396875"/>
                </a:cubicBezTo>
                <a:lnTo>
                  <a:pt x="0" y="63500"/>
                </a:lnTo>
                <a:cubicBezTo>
                  <a:pt x="0" y="45938"/>
                  <a:pt x="14188" y="31750"/>
                  <a:pt x="31750" y="31750"/>
                </a:cubicBezTo>
                <a:close/>
                <a:moveTo>
                  <a:pt x="142875" y="222250"/>
                </a:moveTo>
                <a:cubicBezTo>
                  <a:pt x="160437" y="222250"/>
                  <a:pt x="174625" y="236438"/>
                  <a:pt x="174625" y="254000"/>
                </a:cubicBezTo>
                <a:lnTo>
                  <a:pt x="174625" y="317500"/>
                </a:lnTo>
                <a:cubicBezTo>
                  <a:pt x="174625" y="335062"/>
                  <a:pt x="160437" y="349250"/>
                  <a:pt x="142875" y="349250"/>
                </a:cubicBezTo>
                <a:cubicBezTo>
                  <a:pt x="125313" y="349250"/>
                  <a:pt x="111125" y="335062"/>
                  <a:pt x="111125" y="317500"/>
                </a:cubicBezTo>
                <a:lnTo>
                  <a:pt x="111125" y="254000"/>
                </a:lnTo>
                <a:cubicBezTo>
                  <a:pt x="111125" y="236438"/>
                  <a:pt x="125313" y="222250"/>
                  <a:pt x="142875" y="222250"/>
                </a:cubicBezTo>
                <a:close/>
                <a:moveTo>
                  <a:pt x="285750" y="158750"/>
                </a:moveTo>
                <a:lnTo>
                  <a:pt x="285750" y="317500"/>
                </a:lnTo>
                <a:cubicBezTo>
                  <a:pt x="285750" y="335062"/>
                  <a:pt x="271562" y="349250"/>
                  <a:pt x="254000" y="349250"/>
                </a:cubicBezTo>
                <a:cubicBezTo>
                  <a:pt x="236438" y="349250"/>
                  <a:pt x="222250" y="335062"/>
                  <a:pt x="222250" y="317500"/>
                </a:cubicBezTo>
                <a:lnTo>
                  <a:pt x="222250" y="158750"/>
                </a:lnTo>
                <a:cubicBezTo>
                  <a:pt x="222250" y="141188"/>
                  <a:pt x="236438" y="127000"/>
                  <a:pt x="254000" y="127000"/>
                </a:cubicBezTo>
                <a:cubicBezTo>
                  <a:pt x="271562" y="127000"/>
                  <a:pt x="285750" y="141188"/>
                  <a:pt x="285750" y="158750"/>
                </a:cubicBezTo>
                <a:close/>
                <a:moveTo>
                  <a:pt x="365125" y="190500"/>
                </a:moveTo>
                <a:cubicBezTo>
                  <a:pt x="382687" y="190500"/>
                  <a:pt x="396875" y="204688"/>
                  <a:pt x="396875" y="222250"/>
                </a:cubicBezTo>
                <a:lnTo>
                  <a:pt x="396875" y="317500"/>
                </a:lnTo>
                <a:cubicBezTo>
                  <a:pt x="396875" y="335062"/>
                  <a:pt x="382687" y="349250"/>
                  <a:pt x="365125" y="349250"/>
                </a:cubicBezTo>
                <a:cubicBezTo>
                  <a:pt x="347563" y="349250"/>
                  <a:pt x="333375" y="335062"/>
                  <a:pt x="333375" y="317500"/>
                </a:cubicBezTo>
                <a:lnTo>
                  <a:pt x="333375" y="222250"/>
                </a:lnTo>
                <a:cubicBezTo>
                  <a:pt x="333375" y="204688"/>
                  <a:pt x="347563" y="190500"/>
                  <a:pt x="365125" y="190500"/>
                </a:cubicBezTo>
                <a:close/>
                <a:moveTo>
                  <a:pt x="508000" y="95250"/>
                </a:moveTo>
                <a:lnTo>
                  <a:pt x="508000" y="317500"/>
                </a:lnTo>
                <a:cubicBezTo>
                  <a:pt x="508000" y="335062"/>
                  <a:pt x="493812" y="349250"/>
                  <a:pt x="476250" y="349250"/>
                </a:cubicBezTo>
                <a:cubicBezTo>
                  <a:pt x="458688" y="349250"/>
                  <a:pt x="444500" y="335062"/>
                  <a:pt x="444500" y="317500"/>
                </a:cubicBezTo>
                <a:lnTo>
                  <a:pt x="444500" y="95250"/>
                </a:lnTo>
                <a:cubicBezTo>
                  <a:pt x="444500" y="77688"/>
                  <a:pt x="458688" y="63500"/>
                  <a:pt x="476250" y="63500"/>
                </a:cubicBezTo>
                <a:cubicBezTo>
                  <a:pt x="493812" y="63500"/>
                  <a:pt x="508000" y="77688"/>
                  <a:pt x="508000" y="95250"/>
                </a:cubicBez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30" name="Text 28"/>
          <p:cNvSpPr/>
          <p:nvPr/>
        </p:nvSpPr>
        <p:spPr>
          <a:xfrm>
            <a:off x="9652000" y="71755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[Insert RMSE Bar Chart]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589000" y="4953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Insights &amp; Feature Importance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986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drove the predictions? Top predictive features: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2159000"/>
            <a:ext cx="7366000" cy="24765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016000" y="2921000"/>
            <a:ext cx="660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Satisfaction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16000" y="3403600"/>
            <a:ext cx="635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3556000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Strongest predictor — satisfied professionals command higher salaries. Correlates with skill level and company investment.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2159000"/>
            <a:ext cx="7112000" cy="24765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17" name="Text 15"/>
          <p:cNvSpPr/>
          <p:nvPr/>
        </p:nvSpPr>
        <p:spPr>
          <a:xfrm>
            <a:off x="86360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636000" y="2921000"/>
            <a:ext cx="660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 × Age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636000" y="3403600"/>
            <a:ext cx="635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3556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maturity compounds experience value. Captures premium on early rapid growth vs. late plateau.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953000"/>
            <a:ext cx="14732000" cy="34925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514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These Make Intuitive Sense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16000" y="5562600"/>
            <a:ext cx="762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2700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7382" y="60494"/>
                </a:moveTo>
                <a:lnTo>
                  <a:pt x="177800" y="74870"/>
                </a:lnTo>
                <a:lnTo>
                  <a:pt x="188218" y="60494"/>
                </a:lnTo>
                <a:cubicBezTo>
                  <a:pt x="205581" y="36463"/>
                  <a:pt x="233501" y="22225"/>
                  <a:pt x="263158" y="22225"/>
                </a:cubicBezTo>
                <a:cubicBezTo>
                  <a:pt x="314206" y="22225"/>
                  <a:pt x="355600" y="63619"/>
                  <a:pt x="355600" y="114667"/>
                </a:cubicBezTo>
                <a:lnTo>
                  <a:pt x="355600" y="116473"/>
                </a:lnTo>
                <a:cubicBezTo>
                  <a:pt x="355600" y="194399"/>
                  <a:pt x="258435" y="284897"/>
                  <a:pt x="207734" y="323582"/>
                </a:cubicBezTo>
                <a:cubicBezTo>
                  <a:pt x="199122" y="330111"/>
                  <a:pt x="188565" y="333375"/>
                  <a:pt x="177800" y="333375"/>
                </a:cubicBezTo>
                <a:cubicBezTo>
                  <a:pt x="167035" y="333375"/>
                  <a:pt x="156408" y="330180"/>
                  <a:pt x="147866" y="323582"/>
                </a:cubicBezTo>
                <a:cubicBezTo>
                  <a:pt x="97165" y="284897"/>
                  <a:pt x="0" y="194399"/>
                  <a:pt x="0" y="116473"/>
                </a:cubicBezTo>
                <a:lnTo>
                  <a:pt x="0" y="114667"/>
                </a:lnTo>
                <a:cubicBezTo>
                  <a:pt x="0" y="63619"/>
                  <a:pt x="41394" y="22225"/>
                  <a:pt x="92442" y="22225"/>
                </a:cubicBezTo>
                <a:cubicBezTo>
                  <a:pt x="122099" y="22225"/>
                  <a:pt x="150019" y="36463"/>
                  <a:pt x="167382" y="60494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5" name="Text 23"/>
          <p:cNvSpPr/>
          <p:nvPr/>
        </p:nvSpPr>
        <p:spPr>
          <a:xfrm>
            <a:off x="1752600" y="58801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Satisfaction Factor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70000" y="6350000"/>
            <a:ext cx="635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the IT industry, job satisfaction reflects: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skill levels and expertise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Greater responsibility and impact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investment in employee growth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work-life balance and benefits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8" name="Text 26"/>
          <p:cNvSpPr/>
          <p:nvPr/>
        </p:nvSpPr>
        <p:spPr>
          <a:xfrm>
            <a:off x="8864600" y="58801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Experience-Age Interaction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82000" y="6350000"/>
            <a:ext cx="685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compound effect captures: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on early-career rapid skill growth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Late-career experience plateau effects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value of seasoned expertise</a:t>
            </a:r>
            <a:endParaRPr lang="en-US" sz="1600" dirty="0"/>
          </a:p>
          <a:p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Age-adjusted career progression paths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589000" y="495300"/>
            <a:ext cx="127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736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7112000" cy="6731000"/>
          </a:xfrm>
          <a:prstGeom prst="rect">
            <a:avLst/>
          </a:prstGeom>
          <a:solidFill>
            <a:srgbClr val="E8F0F1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177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16000" y="2260600"/>
            <a:ext cx="762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2540000"/>
            <a:ext cx="6604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2540000"/>
            <a:ext cx="457200" cy="457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2540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25908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Size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19200" y="30480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504 rows limited the model's ability to generalize perfectly. Small datasets are prone to overfitting.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" y="4445000"/>
            <a:ext cx="6604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4445000"/>
            <a:ext cx="457200" cy="457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4445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4958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Overfitting Tendency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19200" y="49530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models showed overfitting — high training R² but lower test R². Limited data diversity contributed.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6000" y="6350000"/>
            <a:ext cx="6604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000" y="6350000"/>
            <a:ext cx="457200" cy="457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6350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64008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D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Coverage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19200" y="68580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may not represent all global IT markets equally. Regional salary disparities could be underrepresented.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28000" y="1587500"/>
            <a:ext cx="7366000" cy="6731000"/>
          </a:xfrm>
          <a:prstGeom prst="rect">
            <a:avLst/>
          </a:prstGeom>
          <a:solidFill>
            <a:srgbClr val="1E4D52"/>
          </a:solidFill>
          <a:ln/>
        </p:spPr>
      </p:sp>
      <p:sp>
        <p:nvSpPr>
          <p:cNvPr id="30" name="Shape 28"/>
          <p:cNvSpPr/>
          <p:nvPr/>
        </p:nvSpPr>
        <p:spPr>
          <a:xfrm>
            <a:off x="8382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1" name="Text 29"/>
          <p:cNvSpPr/>
          <p:nvPr/>
        </p:nvSpPr>
        <p:spPr>
          <a:xfrm>
            <a:off x="8864600" y="177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Improvements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382000" y="2260600"/>
            <a:ext cx="762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8382000" y="2603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9400" y="112306"/>
                </a:moveTo>
                <a:cubicBezTo>
                  <a:pt x="270170" y="117654"/>
                  <a:pt x="259568" y="121965"/>
                  <a:pt x="248529" y="125403"/>
                </a:cubicBezTo>
                <a:cubicBezTo>
                  <a:pt x="219217" y="134570"/>
                  <a:pt x="180737" y="139700"/>
                  <a:pt x="139700" y="139700"/>
                </a:cubicBezTo>
                <a:cubicBezTo>
                  <a:pt x="98663" y="139700"/>
                  <a:pt x="60121" y="134516"/>
                  <a:pt x="30871" y="125403"/>
                </a:cubicBezTo>
                <a:cubicBezTo>
                  <a:pt x="19895" y="121965"/>
                  <a:pt x="9230" y="117654"/>
                  <a:pt x="0" y="112306"/>
                </a:cubicBezTo>
                <a:lnTo>
                  <a:pt x="0" y="157163"/>
                </a:lnTo>
                <a:cubicBezTo>
                  <a:pt x="0" y="181283"/>
                  <a:pt x="62553" y="200819"/>
                  <a:pt x="139700" y="200819"/>
                </a:cubicBezTo>
                <a:cubicBezTo>
                  <a:pt x="216847" y="200819"/>
                  <a:pt x="279400" y="181283"/>
                  <a:pt x="279400" y="157163"/>
                </a:cubicBezTo>
                <a:lnTo>
                  <a:pt x="279400" y="112306"/>
                </a:lnTo>
                <a:close/>
                <a:moveTo>
                  <a:pt x="279400" y="69850"/>
                </a:moveTo>
                <a:lnTo>
                  <a:pt x="279400" y="43656"/>
                </a:lnTo>
                <a:cubicBezTo>
                  <a:pt x="279400" y="19536"/>
                  <a:pt x="216847" y="0"/>
                  <a:pt x="139700" y="0"/>
                </a:cubicBezTo>
                <a:cubicBezTo>
                  <a:pt x="62553" y="0"/>
                  <a:pt x="0" y="19536"/>
                  <a:pt x="0" y="43656"/>
                </a:cubicBezTo>
                <a:lnTo>
                  <a:pt x="0" y="69850"/>
                </a:lnTo>
                <a:cubicBezTo>
                  <a:pt x="0" y="93970"/>
                  <a:pt x="62553" y="113506"/>
                  <a:pt x="139700" y="113506"/>
                </a:cubicBezTo>
                <a:cubicBezTo>
                  <a:pt x="216847" y="113506"/>
                  <a:pt x="279400" y="93970"/>
                  <a:pt x="279400" y="69850"/>
                </a:cubicBezTo>
                <a:close/>
                <a:moveTo>
                  <a:pt x="248529" y="212715"/>
                </a:moveTo>
                <a:cubicBezTo>
                  <a:pt x="219279" y="221828"/>
                  <a:pt x="180799" y="227013"/>
                  <a:pt x="139700" y="227013"/>
                </a:cubicBezTo>
                <a:cubicBezTo>
                  <a:pt x="98601" y="227013"/>
                  <a:pt x="60121" y="221828"/>
                  <a:pt x="30871" y="212715"/>
                </a:cubicBezTo>
                <a:cubicBezTo>
                  <a:pt x="19895" y="209277"/>
                  <a:pt x="9230" y="204966"/>
                  <a:pt x="0" y="199618"/>
                </a:cubicBezTo>
                <a:lnTo>
                  <a:pt x="0" y="235744"/>
                </a:lnTo>
                <a:cubicBezTo>
                  <a:pt x="0" y="259864"/>
                  <a:pt x="62553" y="279400"/>
                  <a:pt x="139700" y="279400"/>
                </a:cubicBezTo>
                <a:cubicBezTo>
                  <a:pt x="216847" y="279400"/>
                  <a:pt x="279400" y="259864"/>
                  <a:pt x="279400" y="235744"/>
                </a:cubicBezTo>
                <a:lnTo>
                  <a:pt x="279400" y="199618"/>
                </a:lnTo>
                <a:cubicBezTo>
                  <a:pt x="270170" y="204966"/>
                  <a:pt x="259568" y="209277"/>
                  <a:pt x="248529" y="212715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4" name="Text 32"/>
          <p:cNvSpPr/>
          <p:nvPr/>
        </p:nvSpPr>
        <p:spPr>
          <a:xfrm>
            <a:off x="8788400" y="2565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Gather More Data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382000" y="29464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dataset to 2,000+ rows for significantly better generalization and reduced overfitting.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2000" y="3810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26876" y="2838"/>
                </a:moveTo>
                <a:cubicBezTo>
                  <a:pt x="135007" y="-928"/>
                  <a:pt x="144393" y="-928"/>
                  <a:pt x="152524" y="2838"/>
                </a:cubicBezTo>
                <a:lnTo>
                  <a:pt x="271815" y="57954"/>
                </a:lnTo>
                <a:cubicBezTo>
                  <a:pt x="276453" y="60082"/>
                  <a:pt x="279400" y="64720"/>
                  <a:pt x="279400" y="69850"/>
                </a:cubicBezTo>
                <a:cubicBezTo>
                  <a:pt x="279400" y="74980"/>
                  <a:pt x="276453" y="79618"/>
                  <a:pt x="271815" y="81746"/>
                </a:cubicBezTo>
                <a:lnTo>
                  <a:pt x="152524" y="136862"/>
                </a:lnTo>
                <a:cubicBezTo>
                  <a:pt x="144393" y="140628"/>
                  <a:pt x="135007" y="140628"/>
                  <a:pt x="126876" y="136862"/>
                </a:cubicBezTo>
                <a:lnTo>
                  <a:pt x="7585" y="81746"/>
                </a:lnTo>
                <a:cubicBezTo>
                  <a:pt x="2947" y="79564"/>
                  <a:pt x="0" y="74925"/>
                  <a:pt x="0" y="69850"/>
                </a:cubicBezTo>
                <a:cubicBezTo>
                  <a:pt x="0" y="64775"/>
                  <a:pt x="2947" y="60082"/>
                  <a:pt x="7585" y="57954"/>
                </a:cubicBezTo>
                <a:lnTo>
                  <a:pt x="126876" y="2838"/>
                </a:lnTo>
                <a:close/>
                <a:moveTo>
                  <a:pt x="26248" y="119182"/>
                </a:moveTo>
                <a:lnTo>
                  <a:pt x="115907" y="160600"/>
                </a:lnTo>
                <a:cubicBezTo>
                  <a:pt x="131023" y="167585"/>
                  <a:pt x="148431" y="167585"/>
                  <a:pt x="163547" y="160600"/>
                </a:cubicBezTo>
                <a:lnTo>
                  <a:pt x="253206" y="119182"/>
                </a:lnTo>
                <a:lnTo>
                  <a:pt x="271815" y="127804"/>
                </a:lnTo>
                <a:cubicBezTo>
                  <a:pt x="276453" y="129932"/>
                  <a:pt x="279400" y="134570"/>
                  <a:pt x="279400" y="139700"/>
                </a:cubicBezTo>
                <a:cubicBezTo>
                  <a:pt x="279400" y="144830"/>
                  <a:pt x="276453" y="149468"/>
                  <a:pt x="271815" y="151596"/>
                </a:cubicBezTo>
                <a:lnTo>
                  <a:pt x="152524" y="206712"/>
                </a:lnTo>
                <a:cubicBezTo>
                  <a:pt x="144393" y="210478"/>
                  <a:pt x="135007" y="210478"/>
                  <a:pt x="126876" y="206712"/>
                </a:cubicBezTo>
                <a:lnTo>
                  <a:pt x="7585" y="151596"/>
                </a:lnTo>
                <a:cubicBezTo>
                  <a:pt x="2947" y="149414"/>
                  <a:pt x="0" y="144775"/>
                  <a:pt x="0" y="139700"/>
                </a:cubicBezTo>
                <a:cubicBezTo>
                  <a:pt x="0" y="134625"/>
                  <a:pt x="2947" y="129932"/>
                  <a:pt x="7585" y="127804"/>
                </a:cubicBezTo>
                <a:lnTo>
                  <a:pt x="26194" y="119182"/>
                </a:lnTo>
                <a:close/>
                <a:moveTo>
                  <a:pt x="7585" y="197654"/>
                </a:moveTo>
                <a:lnTo>
                  <a:pt x="26194" y="189032"/>
                </a:lnTo>
                <a:lnTo>
                  <a:pt x="115853" y="230450"/>
                </a:lnTo>
                <a:cubicBezTo>
                  <a:pt x="130969" y="237435"/>
                  <a:pt x="148377" y="237435"/>
                  <a:pt x="163493" y="230450"/>
                </a:cubicBezTo>
                <a:lnTo>
                  <a:pt x="253152" y="189032"/>
                </a:lnTo>
                <a:lnTo>
                  <a:pt x="271760" y="197654"/>
                </a:lnTo>
                <a:cubicBezTo>
                  <a:pt x="276399" y="199782"/>
                  <a:pt x="279345" y="204420"/>
                  <a:pt x="279345" y="209550"/>
                </a:cubicBezTo>
                <a:cubicBezTo>
                  <a:pt x="279345" y="214680"/>
                  <a:pt x="276399" y="219318"/>
                  <a:pt x="271760" y="221446"/>
                </a:cubicBezTo>
                <a:lnTo>
                  <a:pt x="152469" y="276562"/>
                </a:lnTo>
                <a:cubicBezTo>
                  <a:pt x="144338" y="280328"/>
                  <a:pt x="134952" y="280328"/>
                  <a:pt x="126821" y="276562"/>
                </a:cubicBezTo>
                <a:lnTo>
                  <a:pt x="7585" y="221446"/>
                </a:lnTo>
                <a:cubicBezTo>
                  <a:pt x="2947" y="219264"/>
                  <a:pt x="0" y="214625"/>
                  <a:pt x="0" y="209550"/>
                </a:cubicBezTo>
                <a:cubicBezTo>
                  <a:pt x="0" y="204475"/>
                  <a:pt x="2947" y="199782"/>
                  <a:pt x="7585" y="197654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7" name="Text 35"/>
          <p:cNvSpPr/>
          <p:nvPr/>
        </p:nvSpPr>
        <p:spPr>
          <a:xfrm>
            <a:off x="8788400" y="37719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Ensemble Methods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382000" y="41529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stacking and blending techniques to combine model strengths for optimal predictions.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82000" y="5016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40" name="Text 38"/>
          <p:cNvSpPr/>
          <p:nvPr/>
        </p:nvSpPr>
        <p:spPr>
          <a:xfrm>
            <a:off x="8788400" y="4978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Macroeconomic Features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382000" y="53594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cost-of-living indices and local tech market indicators for richer contextual predictions.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82000" y="622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65484" y="30559"/>
                </a:moveTo>
                <a:cubicBezTo>
                  <a:pt x="65484" y="13697"/>
                  <a:pt x="79182" y="0"/>
                  <a:pt x="96044" y="0"/>
                </a:cubicBezTo>
                <a:lnTo>
                  <a:pt x="109141" y="0"/>
                </a:lnTo>
                <a:cubicBezTo>
                  <a:pt x="118800" y="0"/>
                  <a:pt x="126603" y="7804"/>
                  <a:pt x="126603" y="17463"/>
                </a:cubicBezTo>
                <a:lnTo>
                  <a:pt x="126603" y="261938"/>
                </a:lnTo>
                <a:cubicBezTo>
                  <a:pt x="126603" y="271596"/>
                  <a:pt x="118800" y="279400"/>
                  <a:pt x="109141" y="279400"/>
                </a:cubicBezTo>
                <a:lnTo>
                  <a:pt x="91678" y="279400"/>
                </a:lnTo>
                <a:cubicBezTo>
                  <a:pt x="75416" y="279400"/>
                  <a:pt x="61719" y="268268"/>
                  <a:pt x="57845" y="253206"/>
                </a:cubicBezTo>
                <a:cubicBezTo>
                  <a:pt x="57463" y="253206"/>
                  <a:pt x="57135" y="253206"/>
                  <a:pt x="56753" y="253206"/>
                </a:cubicBezTo>
                <a:cubicBezTo>
                  <a:pt x="32633" y="253206"/>
                  <a:pt x="13097" y="233670"/>
                  <a:pt x="13097" y="209550"/>
                </a:cubicBezTo>
                <a:cubicBezTo>
                  <a:pt x="13097" y="199727"/>
                  <a:pt x="16371" y="190669"/>
                  <a:pt x="21828" y="183356"/>
                </a:cubicBezTo>
                <a:cubicBezTo>
                  <a:pt x="11241" y="175389"/>
                  <a:pt x="4366" y="162729"/>
                  <a:pt x="4366" y="148431"/>
                </a:cubicBezTo>
                <a:cubicBezTo>
                  <a:pt x="4366" y="131569"/>
                  <a:pt x="13970" y="116890"/>
                  <a:pt x="27940" y="109632"/>
                </a:cubicBezTo>
                <a:cubicBezTo>
                  <a:pt x="24066" y="103083"/>
                  <a:pt x="21828" y="95443"/>
                  <a:pt x="21828" y="87313"/>
                </a:cubicBezTo>
                <a:cubicBezTo>
                  <a:pt x="21828" y="63192"/>
                  <a:pt x="41364" y="43656"/>
                  <a:pt x="65484" y="43656"/>
                </a:cubicBezTo>
                <a:lnTo>
                  <a:pt x="65484" y="30559"/>
                </a:lnTo>
                <a:close/>
                <a:moveTo>
                  <a:pt x="213916" y="30559"/>
                </a:moveTo>
                <a:lnTo>
                  <a:pt x="213916" y="43656"/>
                </a:lnTo>
                <a:cubicBezTo>
                  <a:pt x="238036" y="43656"/>
                  <a:pt x="257572" y="63192"/>
                  <a:pt x="257572" y="87313"/>
                </a:cubicBezTo>
                <a:cubicBezTo>
                  <a:pt x="257572" y="95498"/>
                  <a:pt x="255334" y="103138"/>
                  <a:pt x="251460" y="109632"/>
                </a:cubicBezTo>
                <a:cubicBezTo>
                  <a:pt x="265485" y="116890"/>
                  <a:pt x="275034" y="131514"/>
                  <a:pt x="275034" y="148431"/>
                </a:cubicBezTo>
                <a:cubicBezTo>
                  <a:pt x="275034" y="162729"/>
                  <a:pt x="268159" y="175389"/>
                  <a:pt x="257572" y="183356"/>
                </a:cubicBezTo>
                <a:cubicBezTo>
                  <a:pt x="263029" y="190669"/>
                  <a:pt x="266303" y="199727"/>
                  <a:pt x="266303" y="209550"/>
                </a:cubicBezTo>
                <a:cubicBezTo>
                  <a:pt x="266303" y="233670"/>
                  <a:pt x="246767" y="253206"/>
                  <a:pt x="222647" y="253206"/>
                </a:cubicBezTo>
                <a:cubicBezTo>
                  <a:pt x="222265" y="253206"/>
                  <a:pt x="221937" y="253206"/>
                  <a:pt x="221555" y="253206"/>
                </a:cubicBezTo>
                <a:cubicBezTo>
                  <a:pt x="217681" y="268268"/>
                  <a:pt x="203984" y="279400"/>
                  <a:pt x="187722" y="279400"/>
                </a:cubicBezTo>
                <a:lnTo>
                  <a:pt x="170259" y="279400"/>
                </a:lnTo>
                <a:cubicBezTo>
                  <a:pt x="160600" y="279400"/>
                  <a:pt x="152797" y="271596"/>
                  <a:pt x="152797" y="261938"/>
                </a:cubicBezTo>
                <a:lnTo>
                  <a:pt x="152797" y="17463"/>
                </a:lnTo>
                <a:cubicBezTo>
                  <a:pt x="152797" y="7804"/>
                  <a:pt x="160600" y="0"/>
                  <a:pt x="170259" y="0"/>
                </a:cubicBezTo>
                <a:lnTo>
                  <a:pt x="183356" y="0"/>
                </a:lnTo>
                <a:cubicBezTo>
                  <a:pt x="200218" y="0"/>
                  <a:pt x="213916" y="13697"/>
                  <a:pt x="213916" y="30559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43" name="Text 41"/>
          <p:cNvSpPr/>
          <p:nvPr/>
        </p:nvSpPr>
        <p:spPr>
          <a:xfrm>
            <a:off x="8788400" y="61849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Approaches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382000" y="65659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neural networks on larger future datasets to capture complex non-linear salary relationships.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4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1270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spc="400" kern="0" dirty="0">
                <a:solidFill>
                  <a:srgbClr val="B87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REMARKS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78000" y="190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Q&amp;A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112000" y="2857500"/>
            <a:ext cx="2032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2032000" y="3238500"/>
            <a:ext cx="1219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built a complete </a:t>
            </a:r>
            <a:pPr algn="ctr">
              <a:lnSpc>
                <a:spcPct val="17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ML pipeline</a:t>
            </a:r>
            <a:pPr algn="ctr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2000" dirty="0"/>
          </a:p>
          <a:p>
            <a:pPr algn="ctr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data ingestion through preprocessing, feature engineering,</a:t>
            </a:r>
            <a:endParaRPr lang="en-US" sz="2000" dirty="0"/>
          </a:p>
          <a:p>
            <a:pPr algn="ctr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training, and evaluation.</a:t>
            </a:r>
            <a:endParaRPr lang="en-US" sz="2000" dirty="0"/>
          </a:p>
          <a:p>
            <a:pPr algn="ctr">
              <a:lnSpc>
                <a:spcPct val="17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Demonstrated that </a:t>
            </a:r>
            <a:pPr algn="ctr">
              <a:lnSpc>
                <a:spcPct val="17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</a:t>
            </a:r>
            <a:pPr algn="ctr">
              <a:lnSpc>
                <a:spcPct val="17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effectively capture</a:t>
            </a:r>
            <a:endParaRPr lang="en-US" sz="2000" dirty="0"/>
          </a:p>
          <a:p>
            <a:pPr algn="ctr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non-linear salary relationships in IT professionals.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02000" y="6286500"/>
            <a:ext cx="9652000" cy="6985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556000" y="62865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drivers: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Satisfaction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Experience-Age Interaction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18000" y="7175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18000" y="787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 am now open to any questions.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B87333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Specialists Salary Prediction: An End-to-End Machine Learning Pipeline</dc:title>
  <dc:subject>IT Specialists Salary Prediction: An End-to-End Machine Learning Pipeline</dc:subject>
  <dc:creator>Kimi</dc:creator>
  <cp:lastModifiedBy>Kimi</cp:lastModifiedBy>
  <cp:revision>1</cp:revision>
  <dcterms:created xsi:type="dcterms:W3CDTF">2026-06-22T18:28:57Z</dcterms:created>
  <dcterms:modified xsi:type="dcterms:W3CDTF">2026-06-22T18:28:57Z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{"Label":"IT Specialists Salary Prediction: An End-to-End Machine Learning Pipeline","ContentProducer":"001191110108MACG2KBH8F10000","ProduceID":"19ef0857-5be2-8da0-8000-0000cefa9958","ReservedCode1":"","ContentPropagator":"001191110108MACG2KBH8F20000","PropagateID":"19ef0838-dc82-8d1f-8000-09255f4fde50","ReservedCode2":""}</vt:lpwstr>
  </property>
</Properties>
</file>